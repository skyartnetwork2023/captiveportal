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81" r:id="rId5"/>
    <p:sldId id="258" r:id="rId6"/>
    <p:sldId id="259" r:id="rId7"/>
    <p:sldId id="260" r:id="rId8"/>
    <p:sldId id="261" r:id="rId9"/>
    <p:sldId id="262" r:id="rId10"/>
    <p:sldId id="269" r:id="rId11"/>
    <p:sldId id="264" r:id="rId12"/>
    <p:sldId id="282" r:id="rId13"/>
    <p:sldId id="271" r:id="rId14"/>
    <p:sldId id="272" r:id="rId15"/>
    <p:sldId id="273" r:id="rId16"/>
    <p:sldId id="275" r:id="rId17"/>
    <p:sldId id="276" r:id="rId18"/>
    <p:sldId id="277" r:id="rId19"/>
    <p:sldId id="274" r:id="rId20"/>
    <p:sldId id="278" r:id="rId21"/>
    <p:sldId id="265" r:id="rId22"/>
    <p:sldId id="266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651"/>
            <a:ext cx="8229600" cy="1143000"/>
          </a:xfrm>
        </p:spPr>
        <p:txBody>
          <a:bodyPr/>
          <a:lstStyle/>
          <a:p>
            <a:r>
              <a:rPr dirty="0" err="1"/>
              <a:t>SkyArt</a:t>
            </a:r>
            <a:r>
              <a:rPr dirty="0"/>
              <a:t> Networks Ltd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651"/>
            <a:ext cx="8229600" cy="554099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/>
              <a:t>Business Overview</a:t>
            </a:r>
            <a:endParaRPr lang="en-US" dirty="0"/>
          </a:p>
          <a:p>
            <a:pPr algn="just"/>
            <a:r>
              <a:rPr lang="en-US" dirty="0" err="1"/>
              <a:t>Skyart</a:t>
            </a:r>
            <a:r>
              <a:rPr lang="en-US" dirty="0"/>
              <a:t> Networks Limited is a </a:t>
            </a:r>
            <a:r>
              <a:rPr lang="en-US" b="1" dirty="0"/>
              <a:t>fixed wireless internet service provider (WISP)</a:t>
            </a:r>
            <a:r>
              <a:rPr lang="en-US" dirty="0"/>
              <a:t> focused on delivering affordable, reliable broadband to residential users, small businesses, and public access points.</a:t>
            </a:r>
          </a:p>
          <a:p>
            <a:pPr marL="0" indent="0" algn="just">
              <a:buNone/>
            </a:pPr>
            <a:r>
              <a:rPr lang="en-US" b="1" dirty="0"/>
              <a:t>The business model combines</a:t>
            </a:r>
            <a:r>
              <a:rPr lang="en-US" dirty="0"/>
              <a:t>:</a:t>
            </a:r>
          </a:p>
          <a:p>
            <a:pPr lvl="0" algn="just"/>
            <a:r>
              <a:rPr lang="en-US" b="1" dirty="0"/>
              <a:t>Recurring subscription revenue</a:t>
            </a:r>
            <a:r>
              <a:rPr lang="en-US" dirty="0"/>
              <a:t> (residential and SME customers)</a:t>
            </a:r>
          </a:p>
          <a:p>
            <a:pPr lvl="0" algn="just"/>
            <a:r>
              <a:rPr lang="en-US" b="1" dirty="0"/>
              <a:t>Usage-based hotspot access</a:t>
            </a:r>
            <a:endParaRPr lang="en-US" dirty="0"/>
          </a:p>
          <a:p>
            <a:pPr lvl="0" algn="just"/>
            <a:r>
              <a:rPr lang="en-US" b="1" dirty="0"/>
              <a:t>Value-added services</a:t>
            </a:r>
            <a:r>
              <a:rPr lang="en-US" dirty="0"/>
              <a:t> (add-ons, enterprise </a:t>
            </a:r>
            <a:r>
              <a:rPr lang="en-US" dirty="0" smtClean="0"/>
              <a:t>features , advertisements)</a:t>
            </a:r>
            <a:endParaRPr lang="en-US" dirty="0"/>
          </a:p>
          <a:p>
            <a:pPr algn="just"/>
            <a:r>
              <a:rPr lang="en-US" dirty="0"/>
              <a:t>This diversified revenue mix reduces dependence on any single customer segment and improves long-term sustainability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421"/>
            <a:ext cx="8482084" cy="64553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000" b="1" dirty="0"/>
              <a:t>Current Internet Landscape</a:t>
            </a:r>
            <a:endParaRPr lang="en-US" sz="4000" dirty="0"/>
          </a:p>
          <a:p>
            <a:r>
              <a:rPr lang="en-US" dirty="0"/>
              <a:t>Internet penetration has grown strongly, yet </a:t>
            </a:r>
            <a:r>
              <a:rPr lang="en-US" b="1" dirty="0"/>
              <a:t>mobile connections dominate</a:t>
            </a:r>
            <a:r>
              <a:rPr lang="en-US" dirty="0"/>
              <a:t>, with fixed broadband still minimal.</a:t>
            </a:r>
          </a:p>
          <a:p>
            <a:r>
              <a:rPr lang="en-US" dirty="0"/>
              <a:t>Over </a:t>
            </a:r>
            <a:r>
              <a:rPr lang="en-US" b="1" dirty="0"/>
              <a:t>99 % of users depend on mobile data</a:t>
            </a:r>
            <a:r>
              <a:rPr lang="en-US" dirty="0"/>
              <a:t>, but mobile plans often deliver </a:t>
            </a:r>
            <a:r>
              <a:rPr lang="en-US" b="1" dirty="0"/>
              <a:t>limited bandwidth &amp; variable quality</a:t>
            </a:r>
            <a:r>
              <a:rPr lang="en-US" dirty="0"/>
              <a:t> — insufficient for productivity, online learning, and business needs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000" b="1" dirty="0" smtClean="0"/>
              <a:t>The </a:t>
            </a:r>
            <a:r>
              <a:rPr lang="en-US" sz="4000" b="1" dirty="0"/>
              <a:t>Core Problem</a:t>
            </a:r>
            <a:endParaRPr lang="en-US" sz="4000" dirty="0"/>
          </a:p>
          <a:p>
            <a:r>
              <a:rPr lang="en-US" b="1" dirty="0"/>
              <a:t>Millions of Tanzanians lack reliable, affordable broadband.</a:t>
            </a:r>
            <a:endParaRPr lang="en-US" dirty="0"/>
          </a:p>
          <a:p>
            <a:r>
              <a:rPr lang="en-US" b="1" dirty="0"/>
              <a:t>Fixed internet is scarce and costly</a:t>
            </a:r>
            <a:r>
              <a:rPr lang="en-US" dirty="0"/>
              <a:t>, especially outside major urban business zones, leaving households, students, and entrepreneurs underserved.</a:t>
            </a:r>
          </a:p>
          <a:p>
            <a:pPr marL="0" indent="0">
              <a:buNone/>
            </a:pPr>
            <a:r>
              <a:rPr lang="en-US" b="1" dirty="0"/>
              <a:t>Key Impact</a:t>
            </a:r>
            <a:endParaRPr lang="en-US" dirty="0"/>
          </a:p>
          <a:p>
            <a:r>
              <a:rPr lang="en-US" dirty="0"/>
              <a:t>Digital opportunities remain out of reach for many </a:t>
            </a:r>
            <a:r>
              <a:rPr lang="en-US" dirty="0" smtClean="0"/>
              <a:t>especially </a:t>
            </a:r>
            <a:r>
              <a:rPr lang="en-US" b="1" dirty="0"/>
              <a:t>youth and low-income communities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limiting </a:t>
            </a:r>
            <a:r>
              <a:rPr lang="en-US" dirty="0" smtClean="0"/>
              <a:t>education , entertainment, </a:t>
            </a:r>
            <a:r>
              <a:rPr lang="en-US" dirty="0"/>
              <a:t>jobs, and economic participation.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69" y="996287"/>
            <a:ext cx="8707271" cy="512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8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60" y="805219"/>
            <a:ext cx="8587591" cy="489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946"/>
            <a:ext cx="8229600" cy="1143000"/>
          </a:xfrm>
        </p:spPr>
        <p:txBody>
          <a:bodyPr/>
          <a:lstStyle/>
          <a:p>
            <a:r>
              <a:rPr dirty="0"/>
              <a:t>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3582"/>
            <a:ext cx="8229600" cy="583441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Tanzania has millions of internet users, but </a:t>
            </a:r>
            <a:r>
              <a:rPr lang="en-US" b="1" dirty="0"/>
              <a:t>most rely on mobile data that is slow, expensive, and not designed for real broadband use</a:t>
            </a:r>
            <a:r>
              <a:rPr lang="en-US" dirty="0"/>
              <a:t>. Fixed, high-quality internet is still limited to small urban zones, leaving households, students, and businesses underserved.</a:t>
            </a:r>
          </a:p>
          <a:p>
            <a:r>
              <a:rPr lang="en-US" dirty="0"/>
              <a:t>At the same time, </a:t>
            </a:r>
            <a:r>
              <a:rPr lang="en-US" b="1" dirty="0"/>
              <a:t>a young and fast-growing population is demanding digital access for education, work, and entrepreneurship</a:t>
            </a:r>
            <a:r>
              <a:rPr lang="en-US" dirty="0"/>
              <a:t>.</a:t>
            </a:r>
          </a:p>
          <a:p>
            <a:r>
              <a:rPr lang="en-US" dirty="0"/>
              <a:t>This creates a clear opportunity:</a:t>
            </a:r>
            <a:br>
              <a:rPr lang="en-US" dirty="0"/>
            </a:br>
            <a:r>
              <a:rPr lang="en-US" b="1" dirty="0"/>
              <a:t>to deliver affordable, reliable wireless broadband that turns connectivity into real economic and social value.</a:t>
            </a:r>
            <a:endParaRPr lang="en-US" dirty="0"/>
          </a:p>
          <a:p>
            <a:r>
              <a:rPr lang="en-US" dirty="0" err="1"/>
              <a:t>SkyArt</a:t>
            </a:r>
            <a:r>
              <a:rPr lang="en-US" dirty="0"/>
              <a:t> Networks Limited exists to close this gap — enabling Tanzania’s youth and communities to fully participate in the digital economy.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Affordable wireless broadband services can convert </a:t>
            </a:r>
            <a:r>
              <a:rPr lang="en-US" b="1" dirty="0"/>
              <a:t>mobile-only users into high-value fixed broadband users</a:t>
            </a:r>
            <a:r>
              <a:rPr lang="en-US" dirty="0"/>
              <a:t>, opening revenue streams from households, students, SMEs, and community hotspots.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060"/>
            <a:ext cx="8229600" cy="5554639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SkyArt</a:t>
            </a:r>
            <a:r>
              <a:rPr lang="en-US" dirty="0"/>
              <a:t> Networks Limited delivers </a:t>
            </a:r>
            <a:r>
              <a:rPr lang="en-US" b="1" dirty="0"/>
              <a:t>affordable, reliable, high-capacity internet</a:t>
            </a:r>
            <a:r>
              <a:rPr lang="en-US" dirty="0"/>
              <a:t> to communities that are underserved by traditional fiber and </a:t>
            </a:r>
            <a:r>
              <a:rPr lang="en-US" dirty="0" smtClean="0"/>
              <a:t>expensive options of access.</a:t>
            </a:r>
            <a:endParaRPr lang="en-US" dirty="0"/>
          </a:p>
          <a:p>
            <a:r>
              <a:rPr lang="en-US" dirty="0"/>
              <a:t>We do this through a </a:t>
            </a:r>
            <a:r>
              <a:rPr lang="en-US" b="1" dirty="0"/>
              <a:t>wireless-first broadband model</a:t>
            </a:r>
            <a:r>
              <a:rPr lang="en-US" dirty="0"/>
              <a:t> that combines:</a:t>
            </a:r>
          </a:p>
          <a:p>
            <a:r>
              <a:rPr lang="en-US" b="1" dirty="0"/>
              <a:t>Community Wi-Fi Hotspots</a:t>
            </a:r>
            <a:r>
              <a:rPr lang="en-US" dirty="0"/>
              <a:t> for students, workers, and public spaces</a:t>
            </a:r>
          </a:p>
          <a:p>
            <a:r>
              <a:rPr lang="en-US" b="1" dirty="0"/>
              <a:t>Fixed Wireless Broadband</a:t>
            </a:r>
            <a:r>
              <a:rPr lang="en-US" dirty="0"/>
              <a:t> for homes, SMEs, and institutions</a:t>
            </a:r>
          </a:p>
          <a:p>
            <a:r>
              <a:rPr lang="en-US" b="1" dirty="0"/>
              <a:t>Scalable network infrastructure</a:t>
            </a:r>
            <a:r>
              <a:rPr lang="en-US" dirty="0"/>
              <a:t> using modern Wi-Fi, backhaul, and </a:t>
            </a:r>
            <a:r>
              <a:rPr lang="en-US" dirty="0" err="1"/>
              <a:t>QoS</a:t>
            </a:r>
            <a:r>
              <a:rPr lang="en-US" dirty="0"/>
              <a:t> technologies</a:t>
            </a:r>
          </a:p>
          <a:p>
            <a:r>
              <a:rPr lang="en-US" b="1" dirty="0"/>
              <a:t>Flexible, youth-friendly pricing</a:t>
            </a:r>
            <a:r>
              <a:rPr lang="en-US" dirty="0"/>
              <a:t> that makes broadband affordable and accessible</a:t>
            </a:r>
          </a:p>
          <a:p>
            <a:r>
              <a:rPr lang="en-US" dirty="0"/>
              <a:t>By deploying wireless broadband where fiber is limited or too expensive, </a:t>
            </a:r>
            <a:r>
              <a:rPr lang="en-US" dirty="0" err="1"/>
              <a:t>SkyArt</a:t>
            </a:r>
            <a:r>
              <a:rPr lang="en-US" dirty="0"/>
              <a:t> transforms </a:t>
            </a:r>
            <a:r>
              <a:rPr lang="en-US" b="1" dirty="0"/>
              <a:t>mobile-only users into true broadband users</a:t>
            </a:r>
            <a:r>
              <a:rPr lang="en-US" dirty="0"/>
              <a:t> — enabling online learning, digital businesses, remote work, and modern services.</a:t>
            </a:r>
          </a:p>
          <a:p>
            <a:r>
              <a:rPr lang="en-US" b="1" dirty="0"/>
              <a:t>Result: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Wider coverage, lower cost, better quality — and a faster path to </a:t>
            </a:r>
            <a:r>
              <a:rPr lang="en-US" b="1" dirty="0"/>
              <a:t>digital inclusion and economic growth in Tanzania.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277"/>
            <a:ext cx="8229600" cy="1143000"/>
          </a:xfrm>
        </p:spPr>
        <p:txBody>
          <a:bodyPr/>
          <a:lstStyle/>
          <a:p>
            <a:r>
              <a:rPr dirty="0"/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6287"/>
            <a:ext cx="8229600" cy="55136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Our network is built on</a:t>
            </a:r>
            <a:r>
              <a:rPr lang="en-US" dirty="0"/>
              <a:t>:</a:t>
            </a:r>
          </a:p>
          <a:p>
            <a:r>
              <a:rPr lang="en-US" b="1" dirty="0"/>
              <a:t>High-capacity wireless backhaul</a:t>
            </a:r>
            <a:r>
              <a:rPr lang="en-US" dirty="0"/>
              <a:t> </a:t>
            </a:r>
            <a:r>
              <a:rPr lang="en-US" dirty="0" smtClean="0"/>
              <a:t>(unlicensed </a:t>
            </a:r>
            <a:r>
              <a:rPr lang="en-US" dirty="0"/>
              <a:t>spectrum) to connect sites and communities</a:t>
            </a:r>
          </a:p>
          <a:p>
            <a:r>
              <a:rPr lang="en-US" b="1" dirty="0"/>
              <a:t>Wi-Fi </a:t>
            </a:r>
            <a:r>
              <a:rPr lang="en-US" b="1" dirty="0" smtClean="0"/>
              <a:t>5 &amp; 6 </a:t>
            </a:r>
            <a:r>
              <a:rPr lang="en-US" b="1" dirty="0"/>
              <a:t>access points &amp; fixed wireless CPEs</a:t>
            </a:r>
            <a:r>
              <a:rPr lang="en-US" dirty="0"/>
              <a:t> to deliver fast, stable connections to users</a:t>
            </a:r>
          </a:p>
          <a:p>
            <a:r>
              <a:rPr lang="en-US" b="1" dirty="0"/>
              <a:t>Centralized core network</a:t>
            </a:r>
            <a:r>
              <a:rPr lang="en-US" dirty="0"/>
              <a:t> with routing, traffic management, and security</a:t>
            </a:r>
          </a:p>
          <a:p>
            <a:r>
              <a:rPr lang="en-US" b="1" dirty="0"/>
              <a:t>Quality of Service (</a:t>
            </a:r>
            <a:r>
              <a:rPr lang="en-US" b="1" dirty="0" err="1"/>
              <a:t>QoS</a:t>
            </a:r>
            <a:r>
              <a:rPr lang="en-US" b="1" dirty="0"/>
              <a:t>) and bandwidth control</a:t>
            </a:r>
            <a:r>
              <a:rPr lang="en-US" dirty="0"/>
              <a:t> to ensure fair, predictable user experience</a:t>
            </a:r>
          </a:p>
          <a:p>
            <a:r>
              <a:rPr lang="en-US" b="1" dirty="0"/>
              <a:t>Remote monitoring and network management</a:t>
            </a:r>
            <a:r>
              <a:rPr lang="en-US" dirty="0"/>
              <a:t> for uptime, security, and performance</a:t>
            </a:r>
          </a:p>
          <a:p>
            <a:r>
              <a:rPr lang="en-US" dirty="0"/>
              <a:t>This architecture allows </a:t>
            </a:r>
            <a:r>
              <a:rPr lang="en-US" dirty="0" err="1"/>
              <a:t>SkyArt</a:t>
            </a:r>
            <a:r>
              <a:rPr lang="en-US" dirty="0"/>
              <a:t> to </a:t>
            </a:r>
            <a:r>
              <a:rPr lang="en-US" b="1" dirty="0"/>
              <a:t>deploy broadband quickly and cost-effectively</a:t>
            </a:r>
            <a:r>
              <a:rPr lang="en-US" dirty="0"/>
              <a:t> in areas where fiber is slow or expensive, while still meeting </a:t>
            </a:r>
            <a:r>
              <a:rPr lang="en-US" b="1" dirty="0"/>
              <a:t>TCRA’s standards for service quality, safety, and reliability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The </a:t>
            </a:r>
            <a:r>
              <a:rPr lang="en-US" b="1" dirty="0"/>
              <a:t>result:</a:t>
            </a:r>
            <a:r>
              <a:rPr lang="en-US" dirty="0"/>
              <a:t> a modern, scalable wireless ISP platform ready to support </a:t>
            </a:r>
            <a:r>
              <a:rPr lang="en-US" b="1" dirty="0"/>
              <a:t>thousands of users and future growth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Hotspots</a:t>
            </a:r>
          </a:p>
          <a:p>
            <a:r>
              <a:t>Phase 2: Fixed Wireless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236"/>
            <a:ext cx="8229600" cy="1143000"/>
          </a:xfrm>
        </p:spPr>
        <p:txBody>
          <a:bodyPr/>
          <a:lstStyle/>
          <a:p>
            <a:r>
              <a:rPr lang="en-US" b="1" dirty="0"/>
              <a:t>Revenue Model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8867"/>
            <a:ext cx="8229600" cy="57457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a</a:t>
            </a:r>
            <a:r>
              <a:rPr lang="en-US" b="1" dirty="0"/>
              <a:t>) Residential subscriptions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Core growth engine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Monthly recurring revenue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Predictable cash flows</a:t>
            </a:r>
          </a:p>
          <a:p>
            <a:pPr marL="0" indent="0">
              <a:buNone/>
            </a:pPr>
            <a:r>
              <a:rPr lang="en-US" b="1" dirty="0"/>
              <a:t>b) Small business subscriptions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Higher ARPU than residential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Lower churn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Improves overall margin </a:t>
            </a:r>
            <a:r>
              <a:rPr lang="en-US" dirty="0" smtClean="0"/>
              <a:t>quality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c) Hotspot access</a:t>
            </a:r>
            <a:endParaRPr lang="en-US" dirty="0"/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/>
              <a:t>Early-stage cash flow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/>
              <a:t>Brand visibility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/>
              <a:t>Entry point for conversion to subscriptions</a:t>
            </a:r>
          </a:p>
          <a:p>
            <a:pPr marL="0" indent="0">
              <a:buNone/>
            </a:pPr>
            <a:r>
              <a:rPr lang="en-US" b="1" dirty="0"/>
              <a:t>d) Add-on services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Incremental revenue with minimal additional cost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Margin-enhancing over time</a:t>
            </a:r>
          </a:p>
        </p:txBody>
      </p:sp>
    </p:spTree>
    <p:extLst>
      <p:ext uri="{BB962C8B-B14F-4D97-AF65-F5344CB8AC3E}">
        <p14:creationId xmlns:p14="http://schemas.microsoft.com/office/powerpoint/2010/main" val="190527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SkyArt</a:t>
            </a:r>
            <a:r>
              <a:rPr lang="en-US" b="1" dirty="0"/>
              <a:t> Networks </a:t>
            </a:r>
            <a:r>
              <a:rPr lang="en-US" b="1" dirty="0" smtClean="0"/>
              <a:t>5 </a:t>
            </a:r>
            <a:r>
              <a:rPr lang="en-US" b="1" dirty="0"/>
              <a:t>Year Financial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621" y="1854367"/>
            <a:ext cx="8229600" cy="5201526"/>
          </a:xfrm>
        </p:spPr>
        <p:txBody>
          <a:bodyPr>
            <a:normAutofit/>
          </a:bodyPr>
          <a:lstStyle/>
          <a:p>
            <a:r>
              <a:rPr lang="en-US" dirty="0" err="1" smtClean="0"/>
              <a:t>SkyArt</a:t>
            </a:r>
            <a:r>
              <a:rPr lang="en-US" dirty="0" smtClean="0"/>
              <a:t> </a:t>
            </a:r>
            <a:r>
              <a:rPr lang="en-US" dirty="0"/>
              <a:t>is designed to scale using a </a:t>
            </a:r>
            <a:r>
              <a:rPr lang="en-US" b="1" dirty="0"/>
              <a:t>low-cost, high-reach wireless model</a:t>
            </a:r>
            <a:r>
              <a:rPr lang="en-US" dirty="0"/>
              <a:t>. This allows us to grow users much faster than traditional fiber operators while keeping capital costs low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/>
              <a:t>Year 1 — Market Entry &amp;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We </a:t>
            </a:r>
            <a:r>
              <a:rPr lang="en-US" dirty="0"/>
              <a:t>focus on deploying:</a:t>
            </a:r>
          </a:p>
          <a:p>
            <a:r>
              <a:rPr lang="en-US" dirty="0"/>
              <a:t>Community Wi-Fi hotspots</a:t>
            </a:r>
          </a:p>
          <a:p>
            <a:r>
              <a:rPr lang="en-US" dirty="0"/>
              <a:t>Early residential fixed wireless users</a:t>
            </a:r>
          </a:p>
          <a:p>
            <a:r>
              <a:rPr lang="en-US" dirty="0"/>
              <a:t>Revenue is driven mainly by </a:t>
            </a:r>
            <a:r>
              <a:rPr lang="en-US" b="1" dirty="0"/>
              <a:t>vouchers and entry-level subscriptions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/>
              <a:t>Year 1 — Market Entry &amp;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440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phase proves: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Demand exists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Customers are willing to pay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network operates reliably</a:t>
            </a:r>
          </a:p>
          <a:p>
            <a:pPr marL="0" indent="0">
              <a:buNone/>
            </a:pPr>
            <a:r>
              <a:rPr lang="en-US" dirty="0"/>
              <a:t>By the end of Year 1, </a:t>
            </a:r>
            <a:r>
              <a:rPr lang="en-US" dirty="0" err="1"/>
              <a:t>SkyArt</a:t>
            </a:r>
            <a:r>
              <a:rPr lang="en-US" dirty="0"/>
              <a:t> has: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xxx </a:t>
            </a:r>
            <a:r>
              <a:rPr lang="en-US" dirty="0"/>
              <a:t>of active users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Steady monthly </a:t>
            </a:r>
            <a:r>
              <a:rPr lang="en-US" dirty="0" err="1"/>
              <a:t>cashflow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working operational model</a:t>
            </a:r>
          </a:p>
        </p:txBody>
      </p:sp>
    </p:spTree>
    <p:extLst>
      <p:ext uri="{BB962C8B-B14F-4D97-AF65-F5344CB8AC3E}">
        <p14:creationId xmlns:p14="http://schemas.microsoft.com/office/powerpoint/2010/main" val="310014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milestones in year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83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Year 2 — Expansion &amp;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3865"/>
            <a:ext cx="8229600" cy="52697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We </a:t>
            </a:r>
            <a:r>
              <a:rPr lang="en-US" dirty="0"/>
              <a:t>expand coverage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streets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neighborhoods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homes and SMEs</a:t>
            </a:r>
          </a:p>
          <a:p>
            <a:r>
              <a:rPr lang="en-US" dirty="0"/>
              <a:t>Residential subscriptions increase, raising </a:t>
            </a:r>
            <a:r>
              <a:rPr lang="en-US" b="1" dirty="0"/>
              <a:t>average revenue per user (ARPU)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Operating costs grow slowly compared to revenue because the same infrastructure supports many more users.</a:t>
            </a:r>
          </a:p>
          <a:p>
            <a:pPr marL="0" indent="0">
              <a:buNone/>
            </a:pPr>
            <a:r>
              <a:rPr lang="en-US" dirty="0"/>
              <a:t>At this stage: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Monthly revenue grows strongly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Fixed costs are covered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SkyArt</a:t>
            </a:r>
            <a:r>
              <a:rPr lang="en-US" dirty="0"/>
              <a:t> reaches </a:t>
            </a:r>
            <a:r>
              <a:rPr lang="en-US" b="1" dirty="0"/>
              <a:t>operating profitability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328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Milestones in Year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62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Year 3 — Network </a:t>
            </a:r>
            <a:r>
              <a:rPr lang="en-US" b="1" dirty="0" smtClean="0"/>
              <a:t>Scaling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SkyArt</a:t>
            </a:r>
            <a:r>
              <a:rPr lang="en-US" dirty="0" smtClean="0"/>
              <a:t> </a:t>
            </a:r>
            <a:r>
              <a:rPr lang="en-US" dirty="0"/>
              <a:t>becomes a </a:t>
            </a:r>
            <a:r>
              <a:rPr lang="en-US" b="1" dirty="0"/>
              <a:t>recognized local broadband provider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We add: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base stations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POPs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More institutional clients (schools, offices, training centers)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Revenue now comes mostly from: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Monthly subscriptions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Long-term contracts</a:t>
            </a:r>
          </a:p>
          <a:p>
            <a:pPr marL="0" indent="0">
              <a:buNone/>
            </a:pPr>
            <a:r>
              <a:rPr lang="en-US" dirty="0"/>
              <a:t>This </a:t>
            </a:r>
            <a:r>
              <a:rPr lang="en-US" dirty="0" err="1" smtClean="0"/>
              <a:t>inturn</a:t>
            </a:r>
            <a:r>
              <a:rPr lang="en-US" dirty="0" smtClean="0"/>
              <a:t> creates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Predictable income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Lower churn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Stronger </a:t>
            </a:r>
            <a:r>
              <a:rPr lang="en-US" dirty="0" err="1"/>
              <a:t>cashflow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67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Milestones in year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32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0125" y="274638"/>
            <a:ext cx="8836925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Year </a:t>
            </a:r>
            <a:r>
              <a:rPr lang="en-US" b="1" dirty="0" smtClean="0"/>
              <a:t>4 and 5 Regional </a:t>
            </a:r>
            <a:r>
              <a:rPr lang="en-US" b="1" dirty="0"/>
              <a:t>Growth &amp;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9242"/>
            <a:ext cx="8229600" cy="48705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With </a:t>
            </a:r>
            <a:r>
              <a:rPr lang="en-US" dirty="0"/>
              <a:t>a proven model, </a:t>
            </a:r>
            <a:r>
              <a:rPr lang="en-US" dirty="0" err="1"/>
              <a:t>SkyArt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Expands into new districts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Increases bandwidth capacity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Onboards</a:t>
            </a:r>
            <a:r>
              <a:rPr lang="en-US" dirty="0"/>
              <a:t> enterprise and government clients</a:t>
            </a:r>
          </a:p>
          <a:p>
            <a:pPr marL="0" indent="0">
              <a:buNone/>
            </a:pPr>
            <a:r>
              <a:rPr lang="en-US" dirty="0"/>
              <a:t>The network achieves: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 utilization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Strong margins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Stable, recurring revenue</a:t>
            </a:r>
          </a:p>
          <a:p>
            <a:pPr marL="0" indent="0">
              <a:buNone/>
            </a:pPr>
            <a:r>
              <a:rPr lang="en-US" dirty="0"/>
              <a:t>At this stage </a:t>
            </a:r>
            <a:r>
              <a:rPr lang="en-US" dirty="0" err="1"/>
              <a:t>SkyArt</a:t>
            </a:r>
            <a:r>
              <a:rPr lang="en-US" dirty="0"/>
              <a:t> is:</a:t>
            </a:r>
          </a:p>
          <a:p>
            <a:r>
              <a:rPr lang="en-US" dirty="0"/>
              <a:t>A </a:t>
            </a:r>
            <a:r>
              <a:rPr lang="en-US" b="1" dirty="0"/>
              <a:t>sustainable ISP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valuable digital infrastructure company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platform for national broadband expansion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22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Financial Milestones in year 4 and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240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Jobs, education, digital economy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Why </a:t>
            </a:r>
            <a:r>
              <a:rPr lang="en-US" i="1" dirty="0" err="1"/>
              <a:t>SkyArt</a:t>
            </a:r>
            <a:r>
              <a:rPr lang="en-US" i="1" dirty="0"/>
              <a:t>, Why Now, Why TCRA Should Approve This 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Why </a:t>
            </a:r>
            <a:r>
              <a:rPr lang="en-US" b="1" dirty="0" err="1"/>
              <a:t>SkyArt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smtClean="0"/>
              <a:t>Innovative</a:t>
            </a:r>
            <a:r>
              <a:rPr lang="en-US" dirty="0"/>
              <a:t>, scalable wireless ISP solutions</a:t>
            </a:r>
          </a:p>
          <a:p>
            <a:r>
              <a:rPr lang="en-US" dirty="0"/>
              <a:t>Tailored services for SMEs, schools &amp; underserved </a:t>
            </a:r>
            <a:r>
              <a:rPr lang="en-US" dirty="0" smtClean="0"/>
              <a:t>communities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1334"/>
            <a:ext cx="8229600" cy="4525963"/>
          </a:xfrm>
        </p:spPr>
        <p:txBody>
          <a:bodyPr/>
          <a:lstStyle/>
          <a:p>
            <a:r>
              <a:rPr lang="en-US" b="1" dirty="0"/>
              <a:t>Why Now?</a:t>
            </a:r>
            <a:endParaRPr lang="en-US" dirty="0"/>
          </a:p>
          <a:p>
            <a:r>
              <a:rPr lang="en-US" dirty="0"/>
              <a:t>Rapidly growing internet demand in Tanzania</a:t>
            </a:r>
          </a:p>
          <a:p>
            <a:r>
              <a:rPr lang="en-US" dirty="0"/>
              <a:t>Digital transformation in education, business &amp; government</a:t>
            </a:r>
          </a:p>
          <a:p>
            <a:r>
              <a:rPr lang="en-US" dirty="0"/>
              <a:t>Affordable wireless &amp; SD-WAN technology ready for deployment</a:t>
            </a:r>
          </a:p>
          <a:p>
            <a:r>
              <a:rPr lang="en-US" dirty="0"/>
              <a:t>Aligned with national ICT policy &amp; inclusion goals</a:t>
            </a:r>
          </a:p>
        </p:txBody>
      </p:sp>
    </p:spTree>
    <p:extLst>
      <p:ext uri="{BB962C8B-B14F-4D97-AF65-F5344CB8AC3E}">
        <p14:creationId xmlns:p14="http://schemas.microsoft.com/office/powerpoint/2010/main" val="1117706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18" y="658504"/>
            <a:ext cx="8229600" cy="4525963"/>
          </a:xfrm>
        </p:spPr>
        <p:txBody>
          <a:bodyPr/>
          <a:lstStyle/>
          <a:p>
            <a:r>
              <a:rPr lang="en-US" b="1" dirty="0"/>
              <a:t>Why TCRA Should Approve</a:t>
            </a:r>
            <a:endParaRPr lang="en-US" dirty="0"/>
          </a:p>
          <a:p>
            <a:r>
              <a:rPr lang="en-US" dirty="0"/>
              <a:t>Expands connectivity in underserved areas</a:t>
            </a:r>
          </a:p>
          <a:p>
            <a:r>
              <a:rPr lang="en-US" dirty="0"/>
              <a:t>Compliant with TCRA regulations &amp; quality standards</a:t>
            </a:r>
          </a:p>
          <a:p>
            <a:r>
              <a:rPr lang="en-US" dirty="0"/>
              <a:t>Creates jobs &amp; supports SMEs &amp; digital economy growth</a:t>
            </a:r>
          </a:p>
          <a:p>
            <a:r>
              <a:rPr lang="en-US" dirty="0"/>
              <a:t>Introduces modern, responsible telecom innovation</a:t>
            </a:r>
          </a:p>
        </p:txBody>
      </p:sp>
    </p:spTree>
    <p:extLst>
      <p:ext uri="{BB962C8B-B14F-4D97-AF65-F5344CB8AC3E}">
        <p14:creationId xmlns:p14="http://schemas.microsoft.com/office/powerpoint/2010/main" val="2609125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948</Words>
  <Application>Microsoft Office PowerPoint</Application>
  <PresentationFormat>On-screen Show (4:3)</PresentationFormat>
  <Paragraphs>133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Wingdings</vt:lpstr>
      <vt:lpstr>Office Theme</vt:lpstr>
      <vt:lpstr>SkyArt Networks Ltd</vt:lpstr>
      <vt:lpstr>PowerPoint Presentation</vt:lpstr>
      <vt:lpstr>PowerPoint Presentation</vt:lpstr>
      <vt:lpstr>PowerPoint Presentation</vt:lpstr>
      <vt:lpstr>Opportunity</vt:lpstr>
      <vt:lpstr>Market</vt:lpstr>
      <vt:lpstr>Solution</vt:lpstr>
      <vt:lpstr>Technology</vt:lpstr>
      <vt:lpstr>Rollout</vt:lpstr>
      <vt:lpstr>Revenue Model Explanation</vt:lpstr>
      <vt:lpstr>SkyArt Networks 5 Year Financial Story</vt:lpstr>
      <vt:lpstr>Year 1 — Market Entry &amp; Proof</vt:lpstr>
      <vt:lpstr>Year 1 — Market Entry &amp; Proof</vt:lpstr>
      <vt:lpstr>Financial milestones in year 1</vt:lpstr>
      <vt:lpstr>Year 2 — Expansion &amp; Profitability</vt:lpstr>
      <vt:lpstr>Financial Milestones in Year 2</vt:lpstr>
      <vt:lpstr>Year 3 — Network Scaling</vt:lpstr>
      <vt:lpstr>Financial Milestones in year 3</vt:lpstr>
      <vt:lpstr>Year 4 and 5 Regional Growth &amp; Stability</vt:lpstr>
      <vt:lpstr>Financial Milestones in year 4 and 5</vt:lpstr>
      <vt:lpstr>Impact</vt:lpstr>
      <vt:lpstr>Why SkyArt, Why Now, Why TCRA Should Approve This License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SkyArt Networks Ltd</dc:title>
  <dc:subject/>
  <dc:creator/>
  <cp:keywords/>
  <dc:description>generated using python-pptx</dc:description>
  <cp:lastModifiedBy>Microsoft account</cp:lastModifiedBy>
  <cp:revision>19</cp:revision>
  <dcterms:created xsi:type="dcterms:W3CDTF">2013-01-27T09:14:16Z</dcterms:created>
  <dcterms:modified xsi:type="dcterms:W3CDTF">2026-01-12T19:12:14Z</dcterms:modified>
  <cp:category/>
</cp:coreProperties>
</file>