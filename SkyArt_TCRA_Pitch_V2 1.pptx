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81" r:id="rId5"/>
    <p:sldId id="258" r:id="rId6"/>
    <p:sldId id="259" r:id="rId7"/>
    <p:sldId id="260" r:id="rId8"/>
    <p:sldId id="261" r:id="rId9"/>
    <p:sldId id="262" r:id="rId10"/>
    <p:sldId id="283" r:id="rId11"/>
    <p:sldId id="284" r:id="rId12"/>
    <p:sldId id="286" r:id="rId13"/>
    <p:sldId id="269" r:id="rId14"/>
    <p:sldId id="264" r:id="rId15"/>
    <p:sldId id="282" r:id="rId16"/>
    <p:sldId id="271" r:id="rId17"/>
    <p:sldId id="288" r:id="rId18"/>
    <p:sldId id="273" r:id="rId19"/>
    <p:sldId id="289" r:id="rId20"/>
    <p:sldId id="276" r:id="rId21"/>
    <p:sldId id="290" r:id="rId22"/>
    <p:sldId id="274" r:id="rId23"/>
    <p:sldId id="291" r:id="rId24"/>
    <p:sldId id="272" r:id="rId25"/>
    <p:sldId id="265" r:id="rId26"/>
    <p:sldId id="287" r:id="rId27"/>
    <p:sldId id="266" r:id="rId28"/>
    <p:sldId id="279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 sheet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3"/>
                <c:pt idx="0">
                  <c:v>Assets</c:v>
                </c:pt>
                <c:pt idx="1">
                  <c:v>Liabilities</c:v>
                </c:pt>
                <c:pt idx="2">
                  <c:v>Equity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48000000</c:v>
                </c:pt>
                <c:pt idx="1">
                  <c:v>34000000</c:v>
                </c:pt>
                <c:pt idx="2">
                  <c:v>14000000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 sheet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3"/>
                <c:pt idx="0">
                  <c:v>Assets</c:v>
                </c:pt>
                <c:pt idx="1">
                  <c:v>Liabilities</c:v>
                </c:pt>
                <c:pt idx="2">
                  <c:v>Equity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143000000</c:v>
                </c:pt>
                <c:pt idx="1">
                  <c:v>73000000</c:v>
                </c:pt>
                <c:pt idx="2">
                  <c:v>70000000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 sheet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3"/>
                <c:pt idx="0">
                  <c:v>Assets</c:v>
                </c:pt>
                <c:pt idx="1">
                  <c:v>Liabilities</c:v>
                </c:pt>
                <c:pt idx="2">
                  <c:v>Equity</c:v>
                </c:pt>
              </c:strCache>
            </c:strRef>
          </c:cat>
          <c:val>
            <c:numRef>
              <c:f>Sheet1!$B$2:$B$5</c:f>
              <c:numCache>
                <c:formatCode>[$TZS]\ #,##0.00_);[Red]\([$TZS]\ #,##0.00\)</c:formatCode>
                <c:ptCount val="4"/>
                <c:pt idx="0">
                  <c:v>372820000</c:v>
                </c:pt>
                <c:pt idx="1">
                  <c:v>167500000</c:v>
                </c:pt>
                <c:pt idx="2">
                  <c:v>205320000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 sheet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3"/>
                <c:pt idx="0">
                  <c:v>Assets</c:v>
                </c:pt>
                <c:pt idx="1">
                  <c:v>Liabilities</c:v>
                </c:pt>
                <c:pt idx="2">
                  <c:v>Equity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48000000</c:v>
                </c:pt>
                <c:pt idx="1">
                  <c:v>34000000</c:v>
                </c:pt>
                <c:pt idx="2">
                  <c:v>14000000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Year 4</c:v>
                </c:pt>
                <c:pt idx="1">
                  <c:v>Year 3</c:v>
                </c:pt>
                <c:pt idx="2">
                  <c:v>Year 2</c:v>
                </c:pt>
                <c:pt idx="3">
                  <c:v>Year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22</c:v>
                </c:pt>
                <c:pt idx="2">
                  <c:v>19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 Margin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Year 4</c:v>
                </c:pt>
                <c:pt idx="1">
                  <c:v>Year 3</c:v>
                </c:pt>
                <c:pt idx="2">
                  <c:v>Year 2</c:v>
                </c:pt>
                <c:pt idx="3">
                  <c:v>Year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</c:v>
                </c:pt>
                <c:pt idx="1">
                  <c:v>31</c:v>
                </c:pt>
                <c:pt idx="2">
                  <c:v>27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 Margin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Year 4</c:v>
                </c:pt>
                <c:pt idx="1">
                  <c:v>Year 3</c:v>
                </c:pt>
                <c:pt idx="2">
                  <c:v>Year 2</c:v>
                </c:pt>
                <c:pt idx="3">
                  <c:v>Year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64</c:v>
                </c:pt>
                <c:pt idx="1">
                  <c:v>61</c:v>
                </c:pt>
                <c:pt idx="2">
                  <c:v>60</c:v>
                </c:pt>
                <c:pt idx="3">
                  <c:v>63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92496768"/>
        <c:axId val="292497552"/>
      </c:barChart>
      <c:catAx>
        <c:axId val="292496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497552"/>
        <c:crosses val="autoZero"/>
        <c:auto val="1"/>
        <c:lblAlgn val="ctr"/>
        <c:lblOffset val="100"/>
        <c:noMultiLvlLbl val="0"/>
      </c:catAx>
      <c:valAx>
        <c:axId val="2924975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496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651"/>
            <a:ext cx="8229600" cy="1143000"/>
          </a:xfrm>
        </p:spPr>
        <p:txBody>
          <a:bodyPr/>
          <a:lstStyle/>
          <a:p>
            <a:r>
              <a:rPr dirty="0" err="1"/>
              <a:t>SkyArt</a:t>
            </a:r>
            <a:r>
              <a:rPr dirty="0"/>
              <a:t> </a:t>
            </a:r>
            <a:r>
              <a:rPr dirty="0" smtClean="0"/>
              <a:t>Networks</a:t>
            </a:r>
            <a:r>
              <a:rPr lang="en-US" dirty="0" smtClean="0"/>
              <a:t> Company</a:t>
            </a:r>
            <a:r>
              <a:rPr dirty="0" smtClean="0"/>
              <a:t> </a:t>
            </a:r>
            <a:r>
              <a:rPr dirty="0"/>
              <a:t>Ltd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651"/>
            <a:ext cx="8229600" cy="554099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Business Overview</a:t>
            </a:r>
            <a:endParaRPr lang="en-US" dirty="0"/>
          </a:p>
          <a:p>
            <a:pPr algn="just"/>
            <a:r>
              <a:rPr lang="en-US" dirty="0" err="1"/>
              <a:t>Skyart</a:t>
            </a:r>
            <a:r>
              <a:rPr lang="en-US" dirty="0"/>
              <a:t> Networks Limited is a </a:t>
            </a:r>
            <a:r>
              <a:rPr lang="en-US" b="1" dirty="0"/>
              <a:t>fixed wireless internet service provider (WISP)</a:t>
            </a:r>
            <a:r>
              <a:rPr lang="en-US" dirty="0"/>
              <a:t> focused on delivering affordable, reliable broadband to residential users, small businesses, and public access points.</a:t>
            </a:r>
          </a:p>
          <a:p>
            <a:pPr marL="0" indent="0" algn="just">
              <a:buNone/>
            </a:pPr>
            <a:r>
              <a:rPr lang="en-US" b="1" dirty="0"/>
              <a:t>The business model combines</a:t>
            </a:r>
            <a:r>
              <a:rPr lang="en-US" dirty="0"/>
              <a:t>:</a:t>
            </a:r>
          </a:p>
          <a:p>
            <a:pPr lvl="0" algn="just"/>
            <a:r>
              <a:rPr lang="en-US" b="1" dirty="0"/>
              <a:t>Recurring subscription revenue</a:t>
            </a:r>
            <a:r>
              <a:rPr lang="en-US" dirty="0"/>
              <a:t> (residential and SME customers)</a:t>
            </a:r>
          </a:p>
          <a:p>
            <a:pPr lvl="0" algn="just"/>
            <a:r>
              <a:rPr lang="en-US" b="1" dirty="0"/>
              <a:t>Usage-based hotspot access</a:t>
            </a:r>
            <a:endParaRPr lang="en-US" dirty="0"/>
          </a:p>
          <a:p>
            <a:pPr lvl="0" algn="just"/>
            <a:r>
              <a:rPr lang="en-US" b="1" dirty="0"/>
              <a:t>Value-added services</a:t>
            </a:r>
            <a:r>
              <a:rPr lang="en-US" dirty="0"/>
              <a:t> (add-ons, enterprise </a:t>
            </a:r>
            <a:r>
              <a:rPr lang="en-US" dirty="0" smtClean="0"/>
              <a:t>features , advertisements)</a:t>
            </a:r>
            <a:endParaRPr lang="en-US" dirty="0"/>
          </a:p>
          <a:p>
            <a:pPr algn="just"/>
            <a:r>
              <a:rPr lang="en-US" dirty="0"/>
              <a:t>This diversified revenue mix reduces dependence on any single customer segment and improves long-term sustainability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421"/>
            <a:ext cx="8482084" cy="64553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/>
              <a:t>Current Internet Landscape</a:t>
            </a:r>
            <a:endParaRPr lang="en-US" sz="4000" dirty="0"/>
          </a:p>
          <a:p>
            <a:r>
              <a:rPr lang="en-US" dirty="0"/>
              <a:t>Internet penetration has grown strongly, yet </a:t>
            </a:r>
            <a:r>
              <a:rPr lang="en-US" b="1" dirty="0"/>
              <a:t>mobile connections dominate</a:t>
            </a:r>
            <a:r>
              <a:rPr lang="en-US" dirty="0"/>
              <a:t>, with fixed broadband still minimal.</a:t>
            </a:r>
          </a:p>
          <a:p>
            <a:r>
              <a:rPr lang="en-US" dirty="0"/>
              <a:t>Over </a:t>
            </a:r>
            <a:r>
              <a:rPr lang="en-US" b="1" dirty="0"/>
              <a:t>99 % of users depend on mobile data</a:t>
            </a:r>
            <a:r>
              <a:rPr lang="en-US" dirty="0"/>
              <a:t>, but mobile plans often deliver </a:t>
            </a:r>
            <a:r>
              <a:rPr lang="en-US" b="1" dirty="0"/>
              <a:t>limited bandwidth &amp; variable quality</a:t>
            </a:r>
            <a:r>
              <a:rPr lang="en-US" dirty="0"/>
              <a:t> — insufficient for productivity, online learning, and business needs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b="1" dirty="0" smtClean="0"/>
              <a:t>The </a:t>
            </a:r>
            <a:r>
              <a:rPr lang="en-US" sz="4000" b="1" dirty="0"/>
              <a:t>Core Problem</a:t>
            </a:r>
            <a:endParaRPr lang="en-US" sz="4000" dirty="0"/>
          </a:p>
          <a:p>
            <a:r>
              <a:rPr lang="en-US" b="1" dirty="0"/>
              <a:t>Millions of Tanzanians lack reliable, affordable broadband.</a:t>
            </a:r>
            <a:endParaRPr lang="en-US" dirty="0"/>
          </a:p>
          <a:p>
            <a:r>
              <a:rPr lang="en-US" b="1" dirty="0"/>
              <a:t>Fixed internet is scarce and costly</a:t>
            </a:r>
            <a:r>
              <a:rPr lang="en-US" dirty="0"/>
              <a:t>, especially outside major urban business zones, leaving households, students, and entrepreneurs underserved.</a:t>
            </a:r>
          </a:p>
          <a:p>
            <a:pPr marL="0" indent="0">
              <a:buNone/>
            </a:pPr>
            <a:r>
              <a:rPr lang="en-US" b="1" dirty="0"/>
              <a:t>Key Impact</a:t>
            </a:r>
            <a:endParaRPr lang="en-US" dirty="0"/>
          </a:p>
          <a:p>
            <a:r>
              <a:rPr lang="en-US" dirty="0"/>
              <a:t>Digital opportunities remain out of reach for many </a:t>
            </a:r>
            <a:r>
              <a:rPr lang="en-US" dirty="0" smtClean="0"/>
              <a:t>especially </a:t>
            </a:r>
            <a:r>
              <a:rPr lang="en-US" b="1" dirty="0"/>
              <a:t>youth and low-income communities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limiting </a:t>
            </a:r>
            <a:r>
              <a:rPr lang="en-US" dirty="0" smtClean="0"/>
              <a:t>education , entertainment, </a:t>
            </a:r>
            <a:r>
              <a:rPr lang="en-US" dirty="0"/>
              <a:t>jobs, and economic participation.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9" y="996287"/>
            <a:ext cx="8707271" cy="51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8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0" y="805219"/>
            <a:ext cx="8587591" cy="489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946"/>
            <a:ext cx="8229600" cy="1143000"/>
          </a:xfrm>
        </p:spPr>
        <p:txBody>
          <a:bodyPr/>
          <a:lstStyle/>
          <a:p>
            <a:r>
              <a:rPr dirty="0"/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3582"/>
            <a:ext cx="8229600" cy="58344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Tanzania has millions of internet users, but </a:t>
            </a:r>
            <a:r>
              <a:rPr lang="en-US" b="1" dirty="0"/>
              <a:t>most rely on mobile data that is slow, expensive, and not designed for real broadband use</a:t>
            </a:r>
            <a:r>
              <a:rPr lang="en-US" dirty="0"/>
              <a:t>. Fixed, high-quality internet is still limited to small urban zones, leaving households, students, and businesses underserved.</a:t>
            </a:r>
          </a:p>
          <a:p>
            <a:r>
              <a:rPr lang="en-US" dirty="0"/>
              <a:t>At the same time, </a:t>
            </a:r>
            <a:r>
              <a:rPr lang="en-US" b="1" dirty="0"/>
              <a:t>a young and fast-growing population is demanding digital access for education, work, and entrepreneurship</a:t>
            </a:r>
            <a:r>
              <a:rPr lang="en-US" dirty="0"/>
              <a:t>.</a:t>
            </a:r>
          </a:p>
          <a:p>
            <a:r>
              <a:rPr lang="en-US" dirty="0"/>
              <a:t>This creates a clear opportunity:</a:t>
            </a:r>
            <a:br>
              <a:rPr lang="en-US" dirty="0"/>
            </a:br>
            <a:r>
              <a:rPr lang="en-US" b="1" dirty="0"/>
              <a:t>to deliver affordable, reliable wireless broadband that turns connectivity into real economic and social value.</a:t>
            </a:r>
            <a:endParaRPr lang="en-US" dirty="0"/>
          </a:p>
          <a:p>
            <a:r>
              <a:rPr lang="en-US" dirty="0" err="1"/>
              <a:t>SkyArt</a:t>
            </a:r>
            <a:r>
              <a:rPr lang="en-US" dirty="0"/>
              <a:t> Networks Limited exists to close this gap — enabling Tanzania’s youth and communities to fully participate in the digital economy.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Affordable wireless broadband services can convert </a:t>
            </a:r>
            <a:r>
              <a:rPr lang="en-US" b="1" dirty="0"/>
              <a:t>mobile-only users into high-value fixed broadband users</a:t>
            </a:r>
            <a:r>
              <a:rPr lang="en-US" dirty="0"/>
              <a:t>, opening revenue streams from households, students, SMEs, and community hotspots.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060"/>
            <a:ext cx="8229600" cy="5554639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SkyArt</a:t>
            </a:r>
            <a:r>
              <a:rPr lang="en-US" dirty="0"/>
              <a:t> Networks Limited delivers </a:t>
            </a:r>
            <a:r>
              <a:rPr lang="en-US" b="1" dirty="0"/>
              <a:t>affordable, reliable, high-capacity internet</a:t>
            </a:r>
            <a:r>
              <a:rPr lang="en-US" dirty="0"/>
              <a:t> to communities that are underserved by traditional fiber and </a:t>
            </a:r>
            <a:r>
              <a:rPr lang="en-US" dirty="0" smtClean="0"/>
              <a:t>expensive options of access.</a:t>
            </a:r>
            <a:endParaRPr lang="en-US" dirty="0"/>
          </a:p>
          <a:p>
            <a:r>
              <a:rPr lang="en-US" dirty="0"/>
              <a:t>We do this through a </a:t>
            </a:r>
            <a:r>
              <a:rPr lang="en-US" b="1" dirty="0"/>
              <a:t>wireless-first broadband model</a:t>
            </a:r>
            <a:r>
              <a:rPr lang="en-US" dirty="0"/>
              <a:t> that combines:</a:t>
            </a:r>
          </a:p>
          <a:p>
            <a:r>
              <a:rPr lang="en-US" b="1" dirty="0"/>
              <a:t>Community Wi-Fi Hotspots</a:t>
            </a:r>
            <a:r>
              <a:rPr lang="en-US" dirty="0"/>
              <a:t> for students, workers, and public spaces</a:t>
            </a:r>
          </a:p>
          <a:p>
            <a:r>
              <a:rPr lang="en-US" b="1" dirty="0"/>
              <a:t>Fixed Wireless Broadband</a:t>
            </a:r>
            <a:r>
              <a:rPr lang="en-US" dirty="0"/>
              <a:t> for homes, SMEs, and institutions</a:t>
            </a:r>
          </a:p>
          <a:p>
            <a:r>
              <a:rPr lang="en-US" b="1" dirty="0"/>
              <a:t>Scalable network infrastructure</a:t>
            </a:r>
            <a:r>
              <a:rPr lang="en-US" dirty="0"/>
              <a:t> using modern Wi-Fi, backhaul, and </a:t>
            </a:r>
            <a:r>
              <a:rPr lang="en-US" dirty="0" err="1"/>
              <a:t>QoS</a:t>
            </a:r>
            <a:r>
              <a:rPr lang="en-US" dirty="0"/>
              <a:t> technologies</a:t>
            </a:r>
          </a:p>
          <a:p>
            <a:r>
              <a:rPr lang="en-US" b="1" dirty="0"/>
              <a:t>Flexible, youth-friendly pricing</a:t>
            </a:r>
            <a:r>
              <a:rPr lang="en-US" dirty="0"/>
              <a:t> that makes broadband affordable and accessible</a:t>
            </a:r>
          </a:p>
          <a:p>
            <a:r>
              <a:rPr lang="en-US" dirty="0"/>
              <a:t>By deploying wireless broadband where fiber is limited or too expensive, </a:t>
            </a:r>
            <a:r>
              <a:rPr lang="en-US" dirty="0" err="1"/>
              <a:t>SkyArt</a:t>
            </a:r>
            <a:r>
              <a:rPr lang="en-US" dirty="0"/>
              <a:t> transforms </a:t>
            </a:r>
            <a:r>
              <a:rPr lang="en-US" b="1" dirty="0"/>
              <a:t>mobile-only users into true broadband users</a:t>
            </a:r>
            <a:r>
              <a:rPr lang="en-US" dirty="0"/>
              <a:t> — enabling online learning, digital businesses, remote work, and modern services.</a:t>
            </a:r>
          </a:p>
          <a:p>
            <a:r>
              <a:rPr lang="en-US" b="1" dirty="0"/>
              <a:t>Result: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Wider coverage, lower cost, better quality — and a faster path to </a:t>
            </a:r>
            <a:r>
              <a:rPr lang="en-US" b="1" dirty="0"/>
              <a:t>digital inclusion and economic growth in Tanzania.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277"/>
            <a:ext cx="8229600" cy="1143000"/>
          </a:xfrm>
        </p:spPr>
        <p:txBody>
          <a:bodyPr/>
          <a:lstStyle/>
          <a:p>
            <a:r>
              <a:rPr dirty="0"/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6287"/>
            <a:ext cx="8229600" cy="55136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Our network is built on</a:t>
            </a:r>
            <a:r>
              <a:rPr lang="en-US" dirty="0"/>
              <a:t>:</a:t>
            </a:r>
          </a:p>
          <a:p>
            <a:r>
              <a:rPr lang="en-US" b="1" dirty="0"/>
              <a:t>High-capacity wireless backhaul</a:t>
            </a:r>
            <a:r>
              <a:rPr lang="en-US" dirty="0"/>
              <a:t> </a:t>
            </a:r>
            <a:r>
              <a:rPr lang="en-US" dirty="0" smtClean="0"/>
              <a:t>(unlicensed </a:t>
            </a:r>
            <a:r>
              <a:rPr lang="en-US" dirty="0"/>
              <a:t>spectrum) to connect sites and communities</a:t>
            </a:r>
          </a:p>
          <a:p>
            <a:r>
              <a:rPr lang="en-US" b="1" dirty="0"/>
              <a:t>Wi-Fi </a:t>
            </a:r>
            <a:r>
              <a:rPr lang="en-US" b="1" dirty="0" smtClean="0"/>
              <a:t>5 &amp; 6 </a:t>
            </a:r>
            <a:r>
              <a:rPr lang="en-US" b="1" dirty="0"/>
              <a:t>access points &amp; fixed wireless CPEs</a:t>
            </a:r>
            <a:r>
              <a:rPr lang="en-US" dirty="0"/>
              <a:t> to deliver fast, stable connections to users</a:t>
            </a:r>
          </a:p>
          <a:p>
            <a:r>
              <a:rPr lang="en-US" b="1" dirty="0"/>
              <a:t>Centralized core network</a:t>
            </a:r>
            <a:r>
              <a:rPr lang="en-US" dirty="0"/>
              <a:t> with routing, traffic management, and security</a:t>
            </a:r>
          </a:p>
          <a:p>
            <a:r>
              <a:rPr lang="en-US" b="1" dirty="0"/>
              <a:t>Quality of Service (</a:t>
            </a:r>
            <a:r>
              <a:rPr lang="en-US" b="1" dirty="0" err="1"/>
              <a:t>QoS</a:t>
            </a:r>
            <a:r>
              <a:rPr lang="en-US" b="1" dirty="0"/>
              <a:t>) and bandwidth control</a:t>
            </a:r>
            <a:r>
              <a:rPr lang="en-US" dirty="0"/>
              <a:t> to ensure fair, predictable user experience</a:t>
            </a:r>
          </a:p>
          <a:p>
            <a:r>
              <a:rPr lang="en-US" b="1" dirty="0"/>
              <a:t>Remote monitoring and network management</a:t>
            </a:r>
            <a:r>
              <a:rPr lang="en-US" dirty="0"/>
              <a:t> for uptime, security, and performance</a:t>
            </a:r>
          </a:p>
          <a:p>
            <a:r>
              <a:rPr lang="en-US" dirty="0"/>
              <a:t>This architecture allows </a:t>
            </a:r>
            <a:r>
              <a:rPr lang="en-US" dirty="0" err="1"/>
              <a:t>SkyArt</a:t>
            </a:r>
            <a:r>
              <a:rPr lang="en-US" dirty="0"/>
              <a:t> to </a:t>
            </a:r>
            <a:r>
              <a:rPr lang="en-US" b="1" dirty="0"/>
              <a:t>deploy broadband quickly and cost-effectively</a:t>
            </a:r>
            <a:r>
              <a:rPr lang="en-US" dirty="0"/>
              <a:t> in areas where fiber is slow or expensive, while still meeting </a:t>
            </a:r>
            <a:r>
              <a:rPr lang="en-US" b="1" dirty="0"/>
              <a:t>TCRA’s standards for service quality, safety, and reliability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The </a:t>
            </a:r>
            <a:r>
              <a:rPr lang="en-US" b="1" dirty="0"/>
              <a:t>result:</a:t>
            </a:r>
            <a:r>
              <a:rPr lang="en-US" dirty="0"/>
              <a:t> a modern, scalable wireless ISP platform ready to support </a:t>
            </a:r>
            <a:r>
              <a:rPr lang="en-US" b="1" dirty="0"/>
              <a:t>thousands of users and future growth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smtClean="0"/>
              <a:t>Rollout</a:t>
            </a:r>
            <a:r>
              <a:rPr lang="en-US" dirty="0" smtClean="0"/>
              <a:t>-</a:t>
            </a:r>
            <a:r>
              <a:rPr lang="en-US" b="1" dirty="0"/>
              <a:t>Phase 1 — Pilot </a:t>
            </a:r>
            <a:r>
              <a:rPr lang="en-US" b="1" dirty="0" smtClean="0"/>
              <a:t>and </a:t>
            </a:r>
            <a:r>
              <a:rPr lang="en-US" b="1" dirty="0"/>
              <a:t>Licensing </a:t>
            </a:r>
            <a:r>
              <a:rPr lang="en-US" b="1" dirty="0" smtClean="0"/>
              <a:t>(2026</a:t>
            </a:r>
            <a:r>
              <a:rPr lang="en-US" b="1" dirty="0"/>
              <a:t>)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946"/>
            <a:ext cx="8229600" cy="517250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Prove </a:t>
            </a:r>
            <a:r>
              <a:rPr lang="en-US" dirty="0"/>
              <a:t>service quality and compliance</a:t>
            </a:r>
          </a:p>
          <a:p>
            <a:r>
              <a:rPr lang="en-US" dirty="0"/>
              <a:t>Deploy </a:t>
            </a:r>
            <a:r>
              <a:rPr lang="en-US" dirty="0" smtClean="0"/>
              <a:t>initial core services </a:t>
            </a:r>
            <a:r>
              <a:rPr lang="en-US" dirty="0"/>
              <a:t>(NOC, routers, billing, authentication)</a:t>
            </a:r>
          </a:p>
          <a:p>
            <a:r>
              <a:rPr lang="en-US" dirty="0"/>
              <a:t>Launch first </a:t>
            </a:r>
            <a:r>
              <a:rPr lang="en-US" b="1" dirty="0"/>
              <a:t>hotspot zones</a:t>
            </a: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high-demand </a:t>
            </a:r>
            <a:r>
              <a:rPr lang="en-US" dirty="0" smtClean="0"/>
              <a:t>areas</a:t>
            </a:r>
            <a:r>
              <a:rPr lang="en-US" dirty="0"/>
              <a:t>(3 streets)</a:t>
            </a:r>
          </a:p>
          <a:p>
            <a:r>
              <a:rPr lang="en-US" dirty="0"/>
              <a:t>Serve early customers (retail &amp; small businesses)</a:t>
            </a:r>
          </a:p>
          <a:p>
            <a:r>
              <a:rPr lang="en-US" dirty="0"/>
              <a:t>Revenue starts immediately</a:t>
            </a:r>
          </a:p>
          <a:p>
            <a:r>
              <a:rPr lang="en-US" dirty="0"/>
              <a:t>Establish </a:t>
            </a:r>
            <a:r>
              <a:rPr lang="en-US" dirty="0" err="1"/>
              <a:t>QoS</a:t>
            </a:r>
            <a:r>
              <a:rPr lang="en-US" dirty="0"/>
              <a:t>, monitoring, and reporting for </a:t>
            </a:r>
            <a:r>
              <a:rPr lang="en-US" dirty="0" smtClean="0"/>
              <a:t>TCRA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i="1" dirty="0"/>
              <a:t>Outcome:</a:t>
            </a:r>
            <a:r>
              <a:rPr lang="en-US" dirty="0"/>
              <a:t> Stable, compliant, revenue-generating ISP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8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2 — Residential &amp; SME Expansion (</a:t>
            </a:r>
            <a:r>
              <a:rPr lang="en-US" b="1" dirty="0" smtClean="0"/>
              <a:t>2027 </a:t>
            </a:r>
            <a:r>
              <a:rPr lang="en-US" b="1" dirty="0"/>
              <a:t>– </a:t>
            </a:r>
            <a:r>
              <a:rPr lang="en-US" b="1" dirty="0" smtClean="0"/>
              <a:t>2028)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9367"/>
            <a:ext cx="8229600" cy="503602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Scale </a:t>
            </a:r>
            <a:r>
              <a:rPr lang="en-US" dirty="0"/>
              <a:t>paying </a:t>
            </a:r>
            <a:r>
              <a:rPr lang="en-US" dirty="0" smtClean="0"/>
              <a:t>subscribers</a:t>
            </a:r>
            <a:endParaRPr lang="en-US" dirty="0"/>
          </a:p>
          <a:p>
            <a:r>
              <a:rPr lang="en-US" dirty="0"/>
              <a:t>Deploy fixed wireless base </a:t>
            </a:r>
            <a:r>
              <a:rPr lang="en-US" dirty="0" smtClean="0"/>
              <a:t>stations</a:t>
            </a:r>
            <a:endParaRPr lang="en-US" dirty="0"/>
          </a:p>
          <a:p>
            <a:r>
              <a:rPr lang="en-US" dirty="0"/>
              <a:t>Connect homes, offices, cyber cafés, and schools</a:t>
            </a:r>
          </a:p>
          <a:p>
            <a:r>
              <a:rPr lang="en-US" dirty="0"/>
              <a:t>Introduce business internet and managed Wi-Fi</a:t>
            </a:r>
          </a:p>
          <a:p>
            <a:r>
              <a:rPr lang="en-US" dirty="0"/>
              <a:t>Add peering &amp; redundancy for reliability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📌 </a:t>
            </a:r>
            <a:r>
              <a:rPr lang="en-US" i="1" dirty="0"/>
              <a:t>Outcome:</a:t>
            </a:r>
            <a:r>
              <a:rPr lang="en-US" dirty="0"/>
              <a:t> Multi-service ISP with growing subscriber </a:t>
            </a:r>
            <a:r>
              <a:rPr lang="en-US" dirty="0" smtClean="0"/>
              <a:t>base(10 streets and 3 POPs)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10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— City-Level Coverage (</a:t>
            </a:r>
            <a:r>
              <a:rPr lang="en-US" b="1" dirty="0" smtClean="0"/>
              <a:t>2028 </a:t>
            </a:r>
            <a:r>
              <a:rPr lang="en-US" b="1" dirty="0"/>
              <a:t>– </a:t>
            </a:r>
            <a:r>
              <a:rPr lang="en-US" b="1" dirty="0" smtClean="0"/>
              <a:t>2029)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003"/>
            <a:ext cx="8563970" cy="5308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Become </a:t>
            </a:r>
            <a:r>
              <a:rPr lang="en-US" dirty="0"/>
              <a:t>a recognized local ISP</a:t>
            </a:r>
          </a:p>
          <a:p>
            <a:r>
              <a:rPr lang="en-US" dirty="0"/>
              <a:t>Expand to </a:t>
            </a:r>
            <a:r>
              <a:rPr lang="en-US" dirty="0" smtClean="0"/>
              <a:t>more districts (10 POPs &amp; 20 Streets)</a:t>
            </a:r>
            <a:endParaRPr lang="en-US" dirty="0"/>
          </a:p>
          <a:p>
            <a:r>
              <a:rPr lang="en-US" dirty="0"/>
              <a:t>Add SD-WAN &amp; enterprise packages</a:t>
            </a:r>
          </a:p>
          <a:p>
            <a:r>
              <a:rPr lang="en-US" dirty="0"/>
              <a:t>Improve backhaul capacity</a:t>
            </a:r>
          </a:p>
          <a:p>
            <a:r>
              <a:rPr lang="en-US" dirty="0"/>
              <a:t>Network becomes cash-flow </a:t>
            </a:r>
            <a:r>
              <a:rPr lang="en-US" dirty="0" smtClean="0"/>
              <a:t>positive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i="1" dirty="0"/>
              <a:t>Outcome:</a:t>
            </a:r>
            <a:r>
              <a:rPr lang="en-US" dirty="0"/>
              <a:t> High-quality, profitable network</a:t>
            </a:r>
          </a:p>
        </p:txBody>
      </p:sp>
    </p:spTree>
    <p:extLst>
      <p:ext uri="{BB962C8B-B14F-4D97-AF65-F5344CB8AC3E}">
        <p14:creationId xmlns:p14="http://schemas.microsoft.com/office/powerpoint/2010/main" val="96517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21" y="85252"/>
            <a:ext cx="8608325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4 — Regional Scale (</a:t>
            </a:r>
            <a:r>
              <a:rPr lang="en-US" b="1" dirty="0" smtClean="0"/>
              <a:t>2029 </a:t>
            </a:r>
            <a:r>
              <a:rPr lang="en-US" b="1" dirty="0"/>
              <a:t>– </a:t>
            </a:r>
            <a:r>
              <a:rPr lang="en-US" b="1" dirty="0" smtClean="0"/>
              <a:t>2030)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436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Goal:</a:t>
            </a:r>
          </a:p>
          <a:p>
            <a:r>
              <a:rPr lang="en-US" dirty="0" smtClean="0"/>
              <a:t> </a:t>
            </a:r>
            <a:r>
              <a:rPr lang="en-US" dirty="0"/>
              <a:t>Infrastructure-grade operator</a:t>
            </a:r>
          </a:p>
          <a:p>
            <a:r>
              <a:rPr lang="en-US" dirty="0"/>
              <a:t>Expand beyond Dar </a:t>
            </a:r>
            <a:r>
              <a:rPr lang="en-US" dirty="0" err="1"/>
              <a:t>es</a:t>
            </a:r>
            <a:r>
              <a:rPr lang="en-US" dirty="0"/>
              <a:t> Salaam</a:t>
            </a:r>
          </a:p>
          <a:p>
            <a:r>
              <a:rPr lang="en-US" dirty="0"/>
              <a:t>Build inter-city wireless &amp; fiber interconnects</a:t>
            </a:r>
          </a:p>
          <a:p>
            <a:r>
              <a:rPr lang="en-US" dirty="0"/>
              <a:t>Serve institutions, government, enterprises</a:t>
            </a:r>
          </a:p>
          <a:p>
            <a:r>
              <a:rPr lang="en-US" dirty="0"/>
              <a:t>Revenue exceeds </a:t>
            </a:r>
            <a:r>
              <a:rPr lang="en-US" b="1" dirty="0"/>
              <a:t>TZS 300M/year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📌 </a:t>
            </a:r>
            <a:r>
              <a:rPr lang="en-US" i="1" dirty="0"/>
              <a:t>Outcome:</a:t>
            </a:r>
            <a:r>
              <a:rPr lang="en-US" dirty="0"/>
              <a:t> National-scale WISP aligned with Tanzania’s digital </a:t>
            </a:r>
            <a:r>
              <a:rPr lang="en-US" dirty="0" smtClean="0"/>
              <a:t>agenda(20+ POPs &amp; 50+ streets)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236"/>
            <a:ext cx="8229600" cy="1143000"/>
          </a:xfrm>
        </p:spPr>
        <p:txBody>
          <a:bodyPr/>
          <a:lstStyle/>
          <a:p>
            <a:r>
              <a:rPr lang="en-US" b="1" dirty="0"/>
              <a:t>Revenue Model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8867"/>
            <a:ext cx="8229600" cy="57457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</a:t>
            </a:r>
            <a:r>
              <a:rPr lang="en-US" b="1" dirty="0"/>
              <a:t>) Residential subscriptions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Core growth engine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Monthly recurring revenue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Predictable cash flows</a:t>
            </a:r>
          </a:p>
          <a:p>
            <a:pPr marL="0" indent="0">
              <a:buNone/>
            </a:pPr>
            <a:r>
              <a:rPr lang="en-US" b="1" dirty="0"/>
              <a:t>b) Small business subscriptions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Higher ARPU than residential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Lower churn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Improves overall margin </a:t>
            </a:r>
            <a:r>
              <a:rPr lang="en-US" dirty="0" smtClean="0"/>
              <a:t>quality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c) Hotspot access</a:t>
            </a:r>
            <a:endParaRPr lang="en-US" dirty="0"/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Early-stage cash flow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Brand visibility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Entry point for conversion to subscriptions</a:t>
            </a:r>
          </a:p>
          <a:p>
            <a:pPr marL="0" indent="0">
              <a:buNone/>
            </a:pPr>
            <a:r>
              <a:rPr lang="en-US" b="1" dirty="0"/>
              <a:t>d) Add-on services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Incremental revenue with minimal additional cost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Margin-enhancing over time</a:t>
            </a:r>
          </a:p>
        </p:txBody>
      </p:sp>
    </p:spTree>
    <p:extLst>
      <p:ext uri="{BB962C8B-B14F-4D97-AF65-F5344CB8AC3E}">
        <p14:creationId xmlns:p14="http://schemas.microsoft.com/office/powerpoint/2010/main" val="190527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SkyArt</a:t>
            </a:r>
            <a:r>
              <a:rPr lang="en-US" b="1" dirty="0"/>
              <a:t> Networks </a:t>
            </a:r>
            <a:r>
              <a:rPr lang="en-US" b="1" dirty="0" smtClean="0"/>
              <a:t>5 </a:t>
            </a:r>
            <a:r>
              <a:rPr lang="en-US" b="1" dirty="0"/>
              <a:t>Year Financial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621" y="1854367"/>
            <a:ext cx="8229600" cy="5201526"/>
          </a:xfrm>
        </p:spPr>
        <p:txBody>
          <a:bodyPr>
            <a:normAutofit/>
          </a:bodyPr>
          <a:lstStyle/>
          <a:p>
            <a:r>
              <a:rPr lang="en-US" dirty="0" err="1" smtClean="0"/>
              <a:t>SkyArt</a:t>
            </a:r>
            <a:r>
              <a:rPr lang="en-US" dirty="0" smtClean="0"/>
              <a:t> </a:t>
            </a:r>
            <a:r>
              <a:rPr lang="en-US" dirty="0"/>
              <a:t>is designed to scale using a </a:t>
            </a:r>
            <a:r>
              <a:rPr lang="en-US" b="1" dirty="0"/>
              <a:t>low-cost, high-reach wireless model</a:t>
            </a:r>
            <a:r>
              <a:rPr lang="en-US" dirty="0"/>
              <a:t>. This allows us to grow users much faster than traditional fiber operators while keeping capital costs low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Year 1 — Market Entry &amp;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focus on deploying:</a:t>
            </a:r>
          </a:p>
          <a:p>
            <a:r>
              <a:rPr lang="en-US" dirty="0"/>
              <a:t>Community Wi-Fi hotspots</a:t>
            </a:r>
          </a:p>
          <a:p>
            <a:r>
              <a:rPr lang="en-US" dirty="0"/>
              <a:t>Early residential fixed wireless users</a:t>
            </a:r>
          </a:p>
          <a:p>
            <a:r>
              <a:rPr lang="en-US" dirty="0"/>
              <a:t>Revenue is driven mainly by </a:t>
            </a:r>
            <a:r>
              <a:rPr lang="en-US" b="1" dirty="0"/>
              <a:t>vouchers and entry-level subscriptions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Year 1 — Market Entry &amp;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phase proves: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Demand exists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Customers are willing to pay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network operates reliably</a:t>
            </a:r>
          </a:p>
          <a:p>
            <a:pPr marL="0" indent="0">
              <a:buNone/>
            </a:pPr>
            <a:r>
              <a:rPr lang="en-US" dirty="0"/>
              <a:t>By the end of Year 1, </a:t>
            </a:r>
            <a:r>
              <a:rPr lang="en-US" dirty="0" err="1"/>
              <a:t>SkyArt</a:t>
            </a:r>
            <a:r>
              <a:rPr lang="en-US" dirty="0"/>
              <a:t> has: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xxx </a:t>
            </a:r>
            <a:r>
              <a:rPr lang="en-US" dirty="0"/>
              <a:t>of active 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Steady monthly </a:t>
            </a:r>
            <a:r>
              <a:rPr lang="en-US" dirty="0" err="1"/>
              <a:t>cashflow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working operational model</a:t>
            </a:r>
          </a:p>
        </p:txBody>
      </p:sp>
    </p:spTree>
    <p:extLst>
      <p:ext uri="{BB962C8B-B14F-4D97-AF65-F5344CB8AC3E}">
        <p14:creationId xmlns:p14="http://schemas.microsoft.com/office/powerpoint/2010/main" val="310014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Milestones in Year </a:t>
            </a:r>
            <a:r>
              <a:rPr lang="en-US" dirty="0" smtClean="0"/>
              <a:t>1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566857"/>
              </p:ext>
            </p:extLst>
          </p:nvPr>
        </p:nvGraphicFramePr>
        <p:xfrm>
          <a:off x="457200" y="1600200"/>
          <a:ext cx="3719015" cy="3176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76214" y="2006221"/>
            <a:ext cx="44082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Net profit Margin = 16%</a:t>
            </a:r>
          </a:p>
          <a:p>
            <a:r>
              <a:rPr lang="en-US" dirty="0" smtClean="0"/>
              <a:t>Operating Profit Margin = 22%</a:t>
            </a:r>
          </a:p>
          <a:p>
            <a:r>
              <a:rPr lang="en-US" dirty="0" smtClean="0"/>
              <a:t>Gross Operating Profit = 63%</a:t>
            </a:r>
          </a:p>
          <a:p>
            <a:endParaRPr lang="en-US" dirty="0"/>
          </a:p>
          <a:p>
            <a:r>
              <a:rPr lang="en-US" dirty="0" smtClean="0"/>
              <a:t>Targeted Revenue = 46.5 Million</a:t>
            </a:r>
          </a:p>
          <a:p>
            <a:r>
              <a:rPr lang="en-US" dirty="0" smtClean="0"/>
              <a:t>Percentage Hotspot sales = 66%</a:t>
            </a:r>
          </a:p>
          <a:p>
            <a:r>
              <a:rPr lang="en-US" dirty="0" smtClean="0"/>
              <a:t>Percentage SME and residential sales = 33%</a:t>
            </a:r>
          </a:p>
          <a:p>
            <a:r>
              <a:rPr lang="en-US" dirty="0" smtClean="0"/>
              <a:t>Percentage Add on services sales = 1%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91821" y="5281683"/>
            <a:ext cx="308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Assets = TZS 48,000,000 </a:t>
            </a:r>
          </a:p>
          <a:p>
            <a:r>
              <a:rPr lang="en-US" dirty="0" smtClean="0"/>
              <a:t>Liabilities = TZS 34,000,000 </a:t>
            </a:r>
          </a:p>
          <a:p>
            <a:r>
              <a:rPr lang="en-US" dirty="0" smtClean="0"/>
              <a:t>Equity = TZS 14,000,000 </a:t>
            </a:r>
          </a:p>
        </p:txBody>
      </p:sp>
    </p:spTree>
    <p:extLst>
      <p:ext uri="{BB962C8B-B14F-4D97-AF65-F5344CB8AC3E}">
        <p14:creationId xmlns:p14="http://schemas.microsoft.com/office/powerpoint/2010/main" val="239275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Year 2 — Expansion &amp;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865"/>
            <a:ext cx="8229600" cy="52697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expand coverage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streets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neighborhoods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homes and SMEs</a:t>
            </a:r>
          </a:p>
          <a:p>
            <a:r>
              <a:rPr lang="en-US" dirty="0"/>
              <a:t>Residential subscriptions increase, raising </a:t>
            </a:r>
            <a:r>
              <a:rPr lang="en-US" b="1" dirty="0"/>
              <a:t>average revenue per user (ARPU)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Operating costs grow slowly compared to revenue because the same infrastructure supports many more users.</a:t>
            </a:r>
          </a:p>
          <a:p>
            <a:pPr marL="0" indent="0">
              <a:buNone/>
            </a:pPr>
            <a:r>
              <a:rPr lang="en-US" dirty="0"/>
              <a:t>At this stage: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Monthly revenue grows strongly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Fixed costs are covered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SkyArt</a:t>
            </a:r>
            <a:r>
              <a:rPr lang="en-US" dirty="0"/>
              <a:t> reaches </a:t>
            </a:r>
            <a:r>
              <a:rPr lang="en-US" b="1" dirty="0"/>
              <a:t>operating profitability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2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Milestones in Year 2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971660"/>
              </p:ext>
            </p:extLst>
          </p:nvPr>
        </p:nvGraphicFramePr>
        <p:xfrm>
          <a:off x="457200" y="1600200"/>
          <a:ext cx="3719015" cy="3176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76214" y="2006221"/>
            <a:ext cx="45105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Net profit Margin </a:t>
            </a:r>
            <a:r>
              <a:rPr lang="en-US" dirty="0" smtClean="0">
                <a:solidFill>
                  <a:prstClr val="black"/>
                </a:solidFill>
              </a:rPr>
              <a:t>= 19%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Operating Profit Margin </a:t>
            </a:r>
            <a:r>
              <a:rPr lang="en-US" dirty="0" smtClean="0">
                <a:solidFill>
                  <a:prstClr val="black"/>
                </a:solidFill>
              </a:rPr>
              <a:t>= 27%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Gross Operating Profit </a:t>
            </a:r>
            <a:r>
              <a:rPr lang="en-US" dirty="0" smtClean="0">
                <a:solidFill>
                  <a:prstClr val="black"/>
                </a:solidFill>
              </a:rPr>
              <a:t>= 60%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Targeted Revenue </a:t>
            </a:r>
            <a:r>
              <a:rPr lang="en-US" dirty="0" smtClean="0">
                <a:solidFill>
                  <a:prstClr val="black"/>
                </a:solidFill>
              </a:rPr>
              <a:t>= TZS 136.9 Million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Hotspot sales </a:t>
            </a:r>
            <a:r>
              <a:rPr lang="en-US" dirty="0" smtClean="0">
                <a:solidFill>
                  <a:prstClr val="black"/>
                </a:solidFill>
              </a:rPr>
              <a:t>= 45%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SME and residential sales </a:t>
            </a:r>
            <a:r>
              <a:rPr lang="en-US" dirty="0" smtClean="0">
                <a:solidFill>
                  <a:prstClr val="black"/>
                </a:solidFill>
              </a:rPr>
              <a:t>= 53%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Add on services sales = </a:t>
            </a:r>
            <a:r>
              <a:rPr lang="en-US" dirty="0" smtClean="0">
                <a:solidFill>
                  <a:prstClr val="black"/>
                </a:solidFill>
              </a:rPr>
              <a:t> 2 %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821" y="5281683"/>
            <a:ext cx="308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Assets </a:t>
            </a:r>
            <a:r>
              <a:rPr lang="en-US" dirty="0" smtClean="0">
                <a:solidFill>
                  <a:prstClr val="black"/>
                </a:solidFill>
              </a:rPr>
              <a:t>= TZS </a:t>
            </a:r>
            <a:r>
              <a:rPr lang="en-US" dirty="0" smtClean="0"/>
              <a:t>143,000,000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Liabilities </a:t>
            </a:r>
            <a:r>
              <a:rPr lang="en-US" dirty="0" smtClean="0">
                <a:solidFill>
                  <a:prstClr val="black"/>
                </a:solidFill>
              </a:rPr>
              <a:t>= TZS </a:t>
            </a:r>
            <a:r>
              <a:rPr lang="en-US" dirty="0" smtClean="0"/>
              <a:t>73,000,000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Equity </a:t>
            </a:r>
            <a:r>
              <a:rPr lang="en-US" dirty="0" smtClean="0">
                <a:solidFill>
                  <a:prstClr val="black"/>
                </a:solidFill>
              </a:rPr>
              <a:t>= TZS </a:t>
            </a:r>
            <a:r>
              <a:rPr lang="en-US" dirty="0" smtClean="0"/>
              <a:t>70,000,000 </a:t>
            </a:r>
            <a:endParaRPr 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0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Year 3 — Network </a:t>
            </a:r>
            <a:r>
              <a:rPr lang="en-US" b="1" dirty="0" smtClean="0"/>
              <a:t>Scaling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SkyArt</a:t>
            </a:r>
            <a:r>
              <a:rPr lang="en-US" dirty="0" smtClean="0"/>
              <a:t> </a:t>
            </a:r>
            <a:r>
              <a:rPr lang="en-US" dirty="0"/>
              <a:t>becomes a </a:t>
            </a:r>
            <a:r>
              <a:rPr lang="en-US" b="1" dirty="0"/>
              <a:t>recognized local broadband provider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We add: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base stations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POPs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institutional clients (schools, offices, training centers)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Revenue now comes mostly from: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Monthly subscriptions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Long-term contracts</a:t>
            </a:r>
          </a:p>
          <a:p>
            <a:pPr marL="0" indent="0">
              <a:buNone/>
            </a:pPr>
            <a:r>
              <a:rPr lang="en-US" dirty="0"/>
              <a:t>This </a:t>
            </a:r>
            <a:r>
              <a:rPr lang="en-US" dirty="0" err="1" smtClean="0"/>
              <a:t>inturn</a:t>
            </a:r>
            <a:r>
              <a:rPr lang="en-US" dirty="0" smtClean="0"/>
              <a:t> creates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Predictable income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Lower churn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Stronger </a:t>
            </a:r>
            <a:r>
              <a:rPr lang="en-US" dirty="0" err="1"/>
              <a:t>cashflow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6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Milestones in Year 3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746108"/>
              </p:ext>
            </p:extLst>
          </p:nvPr>
        </p:nvGraphicFramePr>
        <p:xfrm>
          <a:off x="457200" y="1600200"/>
          <a:ext cx="3719015" cy="3176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76214" y="2006221"/>
            <a:ext cx="45105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Net profit Margin </a:t>
            </a:r>
            <a:r>
              <a:rPr lang="en-US" dirty="0" smtClean="0">
                <a:solidFill>
                  <a:prstClr val="black"/>
                </a:solidFill>
              </a:rPr>
              <a:t>= 22%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Operating Profit Margin </a:t>
            </a:r>
            <a:r>
              <a:rPr lang="en-US" dirty="0" smtClean="0">
                <a:solidFill>
                  <a:prstClr val="black"/>
                </a:solidFill>
              </a:rPr>
              <a:t>= 31%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Gross Operating Profit </a:t>
            </a:r>
            <a:r>
              <a:rPr lang="en-US" dirty="0" smtClean="0">
                <a:solidFill>
                  <a:prstClr val="black"/>
                </a:solidFill>
              </a:rPr>
              <a:t>= 61%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Targeted Revenue </a:t>
            </a:r>
            <a:r>
              <a:rPr lang="en-US" dirty="0" smtClean="0">
                <a:solidFill>
                  <a:prstClr val="black"/>
                </a:solidFill>
              </a:rPr>
              <a:t>= TZS 199 Million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Hotspot sales </a:t>
            </a:r>
            <a:r>
              <a:rPr lang="en-US" dirty="0" smtClean="0">
                <a:solidFill>
                  <a:prstClr val="black"/>
                </a:solidFill>
              </a:rPr>
              <a:t>= 45.5%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SME and residential sales </a:t>
            </a:r>
            <a:r>
              <a:rPr lang="en-US" dirty="0" smtClean="0">
                <a:solidFill>
                  <a:prstClr val="black"/>
                </a:solidFill>
              </a:rPr>
              <a:t>= 52%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Add on services sales </a:t>
            </a:r>
            <a:r>
              <a:rPr lang="en-US" dirty="0" smtClean="0">
                <a:solidFill>
                  <a:prstClr val="black"/>
                </a:solidFill>
              </a:rPr>
              <a:t>= 2.5%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514" y="5295330"/>
            <a:ext cx="3343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Assets </a:t>
            </a:r>
            <a:r>
              <a:rPr lang="en-US" dirty="0" smtClean="0">
                <a:solidFill>
                  <a:prstClr val="black"/>
                </a:solidFill>
              </a:rPr>
              <a:t>= </a:t>
            </a:r>
            <a:r>
              <a:rPr lang="en-US" dirty="0" smtClean="0"/>
              <a:t>TZS </a:t>
            </a:r>
            <a:r>
              <a:rPr lang="en-US" dirty="0"/>
              <a:t>372,820,000.00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Liabilities </a:t>
            </a:r>
            <a:r>
              <a:rPr lang="en-US" dirty="0" smtClean="0">
                <a:solidFill>
                  <a:prstClr val="black"/>
                </a:solidFill>
              </a:rPr>
              <a:t>= </a:t>
            </a:r>
            <a:r>
              <a:rPr lang="en-US" dirty="0"/>
              <a:t>TZS 167,500,000.00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Equity </a:t>
            </a:r>
            <a:r>
              <a:rPr lang="en-US" dirty="0" smtClean="0">
                <a:solidFill>
                  <a:prstClr val="black"/>
                </a:solidFill>
              </a:rPr>
              <a:t>= </a:t>
            </a:r>
            <a:r>
              <a:rPr lang="en-US" dirty="0"/>
              <a:t>TZS 205,320,000.00 </a:t>
            </a:r>
            <a:endParaRPr 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19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0125" y="274638"/>
            <a:ext cx="8836925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Year </a:t>
            </a:r>
            <a:r>
              <a:rPr lang="en-US" b="1" dirty="0" smtClean="0"/>
              <a:t>4 and 5 Regional </a:t>
            </a:r>
            <a:r>
              <a:rPr lang="en-US" b="1" dirty="0"/>
              <a:t>Growth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9242"/>
            <a:ext cx="8229600" cy="48705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With </a:t>
            </a:r>
            <a:r>
              <a:rPr lang="en-US" dirty="0"/>
              <a:t>a proven model, </a:t>
            </a:r>
            <a:r>
              <a:rPr lang="en-US" dirty="0" err="1"/>
              <a:t>SkyArt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Expands into new districts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Increases bandwidth capacity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Onboards</a:t>
            </a:r>
            <a:r>
              <a:rPr lang="en-US" dirty="0"/>
              <a:t> enterprise and government clients</a:t>
            </a:r>
          </a:p>
          <a:p>
            <a:pPr marL="0" indent="0">
              <a:buNone/>
            </a:pPr>
            <a:r>
              <a:rPr lang="en-US" dirty="0"/>
              <a:t>The network achieves: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utilization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 margins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Stable, recurring revenue</a:t>
            </a:r>
          </a:p>
          <a:p>
            <a:pPr marL="0" indent="0">
              <a:buNone/>
            </a:pPr>
            <a:r>
              <a:rPr lang="en-US" dirty="0"/>
              <a:t>At this stage </a:t>
            </a:r>
            <a:r>
              <a:rPr lang="en-US" dirty="0" err="1"/>
              <a:t>SkyArt</a:t>
            </a:r>
            <a:r>
              <a:rPr lang="en-US" dirty="0"/>
              <a:t> is:</a:t>
            </a:r>
          </a:p>
          <a:p>
            <a:r>
              <a:rPr lang="en-US" dirty="0"/>
              <a:t>A </a:t>
            </a:r>
            <a:r>
              <a:rPr lang="en-US" b="1" dirty="0"/>
              <a:t>sustainable ISP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valuable digital infrastructure company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platform for national broadband expansion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Financial Milestones in Year 4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3719015" cy="3176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76214" y="2006221"/>
            <a:ext cx="43945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Net profit Margin </a:t>
            </a:r>
            <a:r>
              <a:rPr lang="en-US" dirty="0" smtClean="0">
                <a:solidFill>
                  <a:prstClr val="black"/>
                </a:solidFill>
              </a:rPr>
              <a:t>= 29%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Operating Profit Margin </a:t>
            </a:r>
            <a:r>
              <a:rPr lang="en-US" dirty="0" smtClean="0">
                <a:solidFill>
                  <a:prstClr val="black"/>
                </a:solidFill>
              </a:rPr>
              <a:t>= 41%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Gross Operating Profit </a:t>
            </a:r>
            <a:r>
              <a:rPr lang="en-US" dirty="0" smtClean="0">
                <a:solidFill>
                  <a:prstClr val="black"/>
                </a:solidFill>
              </a:rPr>
              <a:t>= 64%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Targeted Revenue </a:t>
            </a:r>
            <a:r>
              <a:rPr lang="en-US" dirty="0" smtClean="0">
                <a:solidFill>
                  <a:prstClr val="black"/>
                </a:solidFill>
              </a:rPr>
              <a:t>= 300 Million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Hotspot sales </a:t>
            </a:r>
            <a:r>
              <a:rPr lang="en-US" dirty="0" smtClean="0">
                <a:solidFill>
                  <a:prstClr val="black"/>
                </a:solidFill>
              </a:rPr>
              <a:t>= 47%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SME and residential sales </a:t>
            </a:r>
            <a:r>
              <a:rPr lang="en-US" dirty="0" smtClean="0">
                <a:solidFill>
                  <a:prstClr val="black"/>
                </a:solidFill>
              </a:rPr>
              <a:t>= 50%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Percentage Add on services sales = </a:t>
            </a:r>
            <a:r>
              <a:rPr lang="en-US" dirty="0" smtClean="0">
                <a:solidFill>
                  <a:prstClr val="black"/>
                </a:solidFill>
              </a:rPr>
              <a:t>3%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821" y="5281683"/>
            <a:ext cx="308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Assets =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Liabilities =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Equity </a:t>
            </a:r>
            <a:r>
              <a:rPr lang="en-US" dirty="0" smtClean="0">
                <a:solidFill>
                  <a:prstClr val="black"/>
                </a:solidFill>
              </a:rPr>
              <a:t>=</a:t>
            </a:r>
            <a:endParaRPr 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05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milestones in </a:t>
            </a:r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1912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783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National </a:t>
            </a:r>
            <a:r>
              <a:rPr lang="en-US" b="1" dirty="0"/>
              <a:t>&amp; Social Impact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0878"/>
            <a:ext cx="8229600" cy="563652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SkyArt</a:t>
            </a:r>
            <a:r>
              <a:rPr lang="en-US" b="1" dirty="0" smtClean="0"/>
              <a:t> </a:t>
            </a:r>
            <a:r>
              <a:rPr lang="en-US" b="1" dirty="0"/>
              <a:t>Networks will: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Connect underserved communities</a:t>
            </a:r>
            <a:br>
              <a:rPr lang="en-US" dirty="0"/>
            </a:br>
            <a:r>
              <a:rPr lang="en-US" dirty="0"/>
              <a:t>• Give students &amp; schools affordable internet</a:t>
            </a:r>
            <a:br>
              <a:rPr lang="en-US" dirty="0"/>
            </a:br>
            <a:r>
              <a:rPr lang="en-US" dirty="0"/>
              <a:t>• Enable SMEs, cyber cafés &amp; online businesses</a:t>
            </a:r>
            <a:br>
              <a:rPr lang="en-US" dirty="0"/>
            </a:br>
            <a:r>
              <a:rPr lang="en-US" dirty="0"/>
              <a:t>• Support e-Government and digital services</a:t>
            </a:r>
            <a:br>
              <a:rPr lang="en-US" dirty="0"/>
            </a:br>
            <a:r>
              <a:rPr lang="en-US" dirty="0"/>
              <a:t>• Reduce the digital divide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Economic &amp; Infrastructure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SkyArt</a:t>
            </a:r>
            <a:r>
              <a:rPr lang="en-US" b="1" dirty="0" smtClean="0"/>
              <a:t> </a:t>
            </a:r>
            <a:r>
              <a:rPr lang="en-US" b="1" dirty="0"/>
              <a:t>will: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Create technical &amp; sales jobs</a:t>
            </a:r>
            <a:br>
              <a:rPr lang="en-US" dirty="0"/>
            </a:br>
            <a:r>
              <a:rPr lang="en-US" dirty="0"/>
              <a:t>• Invest in wireless &amp; data infrastructure</a:t>
            </a:r>
            <a:br>
              <a:rPr lang="en-US" dirty="0"/>
            </a:br>
            <a:r>
              <a:rPr lang="en-US" dirty="0"/>
              <a:t>• Generate taxable revenue</a:t>
            </a:r>
            <a:br>
              <a:rPr lang="en-US" dirty="0"/>
            </a:br>
            <a:r>
              <a:rPr lang="en-US" dirty="0"/>
              <a:t>• Improve local telecom competition</a:t>
            </a:r>
            <a:br>
              <a:rPr lang="en-US" dirty="0"/>
            </a:br>
            <a:r>
              <a:rPr lang="en-US" dirty="0"/>
              <a:t>• Support long-term network sustainability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6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SkyArt</a:t>
            </a:r>
            <a:r>
              <a:rPr lang="en-US" b="1" dirty="0"/>
              <a:t>, Why Now, Why TCRA Should Approve This 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 err="1"/>
              <a:t>SkyArt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smtClean="0"/>
              <a:t>Innovative</a:t>
            </a:r>
            <a:r>
              <a:rPr lang="en-US" dirty="0"/>
              <a:t>, scalable wireless ISP solutions</a:t>
            </a:r>
          </a:p>
          <a:p>
            <a:r>
              <a:rPr lang="en-US" dirty="0"/>
              <a:t>Tailored services for SMEs, schools &amp; underserved </a:t>
            </a:r>
            <a:r>
              <a:rPr lang="en-US" dirty="0" smtClean="0"/>
              <a:t>communities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1334"/>
            <a:ext cx="8229600" cy="4525963"/>
          </a:xfrm>
        </p:spPr>
        <p:txBody>
          <a:bodyPr/>
          <a:lstStyle/>
          <a:p>
            <a:r>
              <a:rPr lang="en-US" b="1" dirty="0"/>
              <a:t>Why Now?</a:t>
            </a:r>
            <a:endParaRPr lang="en-US" dirty="0"/>
          </a:p>
          <a:p>
            <a:r>
              <a:rPr lang="en-US" dirty="0"/>
              <a:t>Rapidly growing internet demand in Tanzania</a:t>
            </a:r>
          </a:p>
          <a:p>
            <a:r>
              <a:rPr lang="en-US" dirty="0"/>
              <a:t>Digital transformation in education, business &amp; government</a:t>
            </a:r>
          </a:p>
          <a:p>
            <a:r>
              <a:rPr lang="en-US" dirty="0"/>
              <a:t>Affordable wireless &amp; SD-WAN technology ready for deployment</a:t>
            </a:r>
          </a:p>
          <a:p>
            <a:r>
              <a:rPr lang="en-US" dirty="0"/>
              <a:t>Aligned with national ICT policy &amp; inclusion goals</a:t>
            </a:r>
          </a:p>
        </p:txBody>
      </p:sp>
    </p:spTree>
    <p:extLst>
      <p:ext uri="{BB962C8B-B14F-4D97-AF65-F5344CB8AC3E}">
        <p14:creationId xmlns:p14="http://schemas.microsoft.com/office/powerpoint/2010/main" val="111770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18" y="658504"/>
            <a:ext cx="8229600" cy="4525963"/>
          </a:xfrm>
        </p:spPr>
        <p:txBody>
          <a:bodyPr/>
          <a:lstStyle/>
          <a:p>
            <a:r>
              <a:rPr lang="en-US" b="1" dirty="0"/>
              <a:t>Why TCRA Should Approve</a:t>
            </a:r>
            <a:endParaRPr lang="en-US" dirty="0"/>
          </a:p>
          <a:p>
            <a:r>
              <a:rPr lang="en-US" dirty="0"/>
              <a:t>Expands connectivity in underserved areas</a:t>
            </a:r>
          </a:p>
          <a:p>
            <a:r>
              <a:rPr lang="en-US" dirty="0"/>
              <a:t>Compliant with TCRA regulations &amp; quality standards</a:t>
            </a:r>
          </a:p>
          <a:p>
            <a:r>
              <a:rPr lang="en-US" dirty="0"/>
              <a:t>Creates jobs &amp; supports SMEs &amp; digital economy growth</a:t>
            </a:r>
          </a:p>
          <a:p>
            <a:r>
              <a:rPr lang="en-US" dirty="0"/>
              <a:t>Introduces modern, responsible telecom innovation</a:t>
            </a:r>
          </a:p>
        </p:txBody>
      </p:sp>
    </p:spTree>
    <p:extLst>
      <p:ext uri="{BB962C8B-B14F-4D97-AF65-F5344CB8AC3E}">
        <p14:creationId xmlns:p14="http://schemas.microsoft.com/office/powerpoint/2010/main" val="260912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1420</Words>
  <Application>Microsoft Office PowerPoint</Application>
  <PresentationFormat>On-screen Show (4:3)</PresentationFormat>
  <Paragraphs>221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SkyArt Networks Company Ltd</vt:lpstr>
      <vt:lpstr>PowerPoint Presentation</vt:lpstr>
      <vt:lpstr>PowerPoint Presentation</vt:lpstr>
      <vt:lpstr>PowerPoint Presentation</vt:lpstr>
      <vt:lpstr>Opportunity</vt:lpstr>
      <vt:lpstr>Market</vt:lpstr>
      <vt:lpstr>Solution</vt:lpstr>
      <vt:lpstr>Technology</vt:lpstr>
      <vt:lpstr>Rollout-Phase 1 — Pilot and Licensing (2026) </vt:lpstr>
      <vt:lpstr>Phase 2 — Residential &amp; SME Expansion (2027 – 2028)</vt:lpstr>
      <vt:lpstr>Phase 3 — City-Level Coverage (2028 – 2029)</vt:lpstr>
      <vt:lpstr>Phase 4 — Regional Scale (2029 – 2030)</vt:lpstr>
      <vt:lpstr>Revenue Model Explanation</vt:lpstr>
      <vt:lpstr>SkyArt Networks 5 Year Financial Story</vt:lpstr>
      <vt:lpstr>Year 1 — Market Entry &amp; Proof</vt:lpstr>
      <vt:lpstr>Year 1 — Market Entry &amp; Proof</vt:lpstr>
      <vt:lpstr>Financial Milestones in Year 1</vt:lpstr>
      <vt:lpstr>Year 2 — Expansion &amp; Profitability</vt:lpstr>
      <vt:lpstr>Financial Milestones in Year 2</vt:lpstr>
      <vt:lpstr>Year 3 — Network Scaling</vt:lpstr>
      <vt:lpstr>Financial Milestones in Year 3</vt:lpstr>
      <vt:lpstr>Year 4 and 5 Regional Growth &amp; Stability</vt:lpstr>
      <vt:lpstr>Financial Milestones in Year 4</vt:lpstr>
      <vt:lpstr>Financial milestones in summary</vt:lpstr>
      <vt:lpstr>National &amp; Social Impact </vt:lpstr>
      <vt:lpstr>Economic &amp; Infrastructure Impact</vt:lpstr>
      <vt:lpstr>Why SkyArt, Why Now, Why TCRA Should Approve This License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SkyArt Networks Ltd</dc:title>
  <dc:subject/>
  <dc:creator/>
  <cp:keywords/>
  <dc:description>generated using python-pptx</dc:description>
  <cp:lastModifiedBy>Microsoft account</cp:lastModifiedBy>
  <cp:revision>39</cp:revision>
  <dcterms:created xsi:type="dcterms:W3CDTF">2013-01-27T09:14:16Z</dcterms:created>
  <dcterms:modified xsi:type="dcterms:W3CDTF">2026-01-13T18:15:38Z</dcterms:modified>
  <cp:category/>
</cp:coreProperties>
</file>